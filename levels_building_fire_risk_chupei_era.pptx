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1" r:id="rId17"/>
    <p:sldId id="274" r:id="rId18"/>
    <p:sldId id="270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410B"/>
    <a:srgbClr val="1E3A67"/>
    <a:srgbClr val="2E7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0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2" d="100"/>
          <a:sy n="72" d="100"/>
        </p:scale>
        <p:origin x="430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187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</p:spTree>
    <p:extLst>
      <p:ext uri="{BB962C8B-B14F-4D97-AF65-F5344CB8AC3E}">
        <p14:creationId xmlns:p14="http://schemas.microsoft.com/office/powerpoint/2010/main" val="39573798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</p:spTree>
    <p:extLst>
      <p:ext uri="{BB962C8B-B14F-4D97-AF65-F5344CB8AC3E}">
        <p14:creationId xmlns:p14="http://schemas.microsoft.com/office/powerpoint/2010/main" val="886594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</p:spTree>
    <p:extLst>
      <p:ext uri="{BB962C8B-B14F-4D97-AF65-F5344CB8AC3E}">
        <p14:creationId xmlns:p14="http://schemas.microsoft.com/office/powerpoint/2010/main" val="27113775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1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of Building Fire Risk Modeling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and Generic Modeling Framework for Community Fire Risk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4114800" cy="0"/>
          </a:xfrm>
          <a:prstGeom prst="line">
            <a:avLst/>
          </a:prstGeom>
          <a:noFill/>
          <a:ln w="317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Chupei Lin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683CBA-0D46-E790-FD77-53A61BA24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6" y="3041545"/>
            <a:ext cx="4474464" cy="38164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52487B-2243-510C-ECBA-AA67C1F7C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0691" y="114298"/>
            <a:ext cx="1694274" cy="5486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23B9D7-E6E9-1705-D8D0-737A2C818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8560" y="114298"/>
            <a:ext cx="72939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FIRE-RISK MODELS  ·  EXAMPLE 1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Trees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decomposition of an initiating event into success/failure branches</a:t>
            </a:r>
            <a:endParaRPr lang="en-US" sz="1200" dirty="0"/>
          </a:p>
        </p:txBody>
      </p:sp>
      <p:pic>
        <p:nvPicPr>
          <p:cNvPr id="5" name="Image 0" descr="/sessions/peaceful-compassionate-goldberg/mnt/outputs/images_v2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7498080" cy="47610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417320"/>
            <a:ext cx="3520440" cy="4761029"/>
          </a:xfrm>
          <a:prstGeom prst="roundRect">
            <a:avLst>
              <a:gd name="adj" fmla="val 2078"/>
            </a:avLst>
          </a:prstGeom>
          <a:solidFill>
            <a:srgbClr val="EEF3FA"/>
          </a:solidFill>
          <a:ln w="12700">
            <a:solidFill>
              <a:srgbClr val="B9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485632" y="15087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03920" y="1828800"/>
            <a:ext cx="3246120" cy="4258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An event tree examines the success and failure of systems following an initiating event (e.g., ignition).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Each branch is assigned a probability;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the leaves give the likelihood of every scenario</a:t>
            </a:r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>
              <a:spcAft>
                <a:spcPts val="200"/>
              </a:spcAft>
            </a:pPr>
            <a:r>
              <a:rPr lang="en-US" sz="1400" dirty="0">
                <a:solidFill>
                  <a:srgbClr val="1E293B"/>
                </a:solidFill>
              </a:rPr>
              <a:t>With the probability of each scenario, simulation tools are used to analyze the consequences.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68"/>
                </a:solidFill>
              </a:rPr>
              <a:t>Strengths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Transparent decision logic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Quantifies low-probability tails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410C"/>
                </a:solidFill>
              </a:rPr>
              <a:t>Limitation</a:t>
            </a:r>
            <a:endParaRPr lang="en-US" sz="14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Static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Assumes branch independence and fixed probabilities</a:t>
            </a:r>
          </a:p>
          <a:p>
            <a:pPr>
              <a:spcAft>
                <a:spcPts val="200"/>
              </a:spcAft>
            </a:pPr>
            <a:endParaRPr lang="en-US" sz="1200" dirty="0">
              <a:solidFill>
                <a:srgbClr val="1E293B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 Typical event tree for a fire event in a building. Adapted from Tan et al. (2019).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FIRE-RISK MODELS  · EXAMPLE 2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acyclic graph of variables and conditional dependencies</a:t>
            </a:r>
            <a:endParaRPr lang="en-US" sz="1200" dirty="0"/>
          </a:p>
        </p:txBody>
      </p:sp>
      <p:pic>
        <p:nvPicPr>
          <p:cNvPr id="5" name="Image 0" descr="/sessions/peaceful-compassionate-goldberg/mnt/outputs/images_v2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7498080" cy="49169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417320"/>
            <a:ext cx="3520440" cy="4916997"/>
          </a:xfrm>
          <a:prstGeom prst="roundRect">
            <a:avLst>
              <a:gd name="adj" fmla="val 2078"/>
            </a:avLst>
          </a:prstGeom>
          <a:solidFill>
            <a:srgbClr val="EEF3FA"/>
          </a:solidFill>
          <a:ln w="12700">
            <a:solidFill>
              <a:srgbClr val="B9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485632" y="15087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03920" y="1828800"/>
            <a:ext cx="3246120" cy="441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Nodes represent random variables;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arcs encode causal relations between variables.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Computes posterior probabilities of outcomes given evidence.</a:t>
            </a:r>
          </a:p>
          <a:p>
            <a:pPr marL="0" indent="0">
              <a:spcAft>
                <a:spcPts val="200"/>
              </a:spcAft>
              <a:buNone/>
            </a:pPr>
            <a:endParaRPr lang="en-US" sz="1400" dirty="0">
              <a:solidFill>
                <a:srgbClr val="1E293B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Probabilistic, not deterministic.</a:t>
            </a:r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68"/>
                </a:solidFill>
              </a:rPr>
              <a:t>Strengths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Handles partial evidence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Captures correlations between variables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Updates as new data arrives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410C"/>
                </a:solidFill>
              </a:rPr>
              <a:t>Limitation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Requires informed conditional-probability tables.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 Bayesian network for human fatalities in a fire. Adapted from Hanea and Ale (2009).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FIRE-RISK MODELS  · EXAMPLE 3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Fire-Frequency Models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/ floor-area + activation-risk classification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577840" cy="4983480"/>
          </a:xfrm>
          <a:prstGeom prst="roundRect">
            <a:avLst>
              <a:gd name="adj" fmla="val 1468"/>
            </a:avLst>
          </a:prstGeom>
          <a:noFill/>
          <a:ln w="12700">
            <a:solidFill>
              <a:srgbClr val="D1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Barrois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Tilander &amp; Keski-Rahkonen, 2003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Ignition frequency:</a:t>
            </a:r>
            <a:endParaRPr lang="en-US" sz="1400" dirty="0"/>
          </a:p>
        </p:txBody>
      </p:sp>
      <p:pic>
        <p:nvPicPr>
          <p:cNvPr id="9" name="Image 0" descr="/sessions/peaceful-compassionate-goldberg/mnt/outputs/images_v2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423160"/>
            <a:ext cx="2926080" cy="7117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246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1E293B"/>
                </a:solidFill>
              </a:rPr>
              <a:t>A</a:t>
            </a:r>
            <a:r>
              <a:rPr lang="en-US" sz="1200" dirty="0">
                <a:solidFill>
                  <a:srgbClr val="1E293B"/>
                </a:solidFill>
              </a:rPr>
              <a:t> is the floor area; </a:t>
            </a:r>
            <a:r>
              <a:rPr lang="en-US" sz="1200" i="1" dirty="0">
                <a:solidFill>
                  <a:srgbClr val="1E293B"/>
                </a:solidFill>
              </a:rPr>
              <a:t>c₁, c₂, r, s</a:t>
            </a:r>
            <a:r>
              <a:rPr lang="en-US" sz="1200" dirty="0">
                <a:solidFill>
                  <a:srgbClr val="1E293B"/>
                </a:solidFill>
              </a:rPr>
              <a:t> are coefficients, which are determined experimentally from observations for different building categories.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9319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categories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4206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Residential buildings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Industrial buildings &amp; warehouses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All other buildings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417320"/>
            <a:ext cx="5577840" cy="4983480"/>
          </a:xfrm>
          <a:prstGeom prst="roundRect">
            <a:avLst>
              <a:gd name="adj" fmla="val 1468"/>
            </a:avLst>
          </a:prstGeom>
          <a:noFill/>
          <a:ln w="12700">
            <a:solidFill>
              <a:srgbClr val="D1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28232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Matrisk</a:t>
            </a: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Fire Probability Model (top-down)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46520" y="2103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fire probability:</a:t>
            </a:r>
            <a:endParaRPr lang="en-US" sz="1400" dirty="0"/>
          </a:p>
        </p:txBody>
      </p:sp>
      <p:pic>
        <p:nvPicPr>
          <p:cNvPr id="16" name="Image 1" descr="/sessions/peaceful-compassionate-goldberg/mnt/outputs/images_v2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423160"/>
            <a:ext cx="4389120" cy="84878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46520" y="3337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α, β, γ</a:t>
            </a:r>
            <a:r>
              <a:rPr lang="en-US" sz="1200" dirty="0">
                <a:solidFill>
                  <a:srgbClr val="1E293B"/>
                </a:solidFill>
              </a:rPr>
              <a:t> are determined by activation-risk class; </a:t>
            </a:r>
            <a:r>
              <a:rPr lang="en-US" sz="1200" i="1" dirty="0">
                <a:solidFill>
                  <a:srgbClr val="1E293B"/>
                </a:solidFill>
              </a:rPr>
              <a:t>V</a:t>
            </a:r>
            <a:r>
              <a:rPr lang="en-US" sz="1200" dirty="0">
                <a:solidFill>
                  <a:srgbClr val="1E293B"/>
                </a:solidFill>
              </a:rPr>
              <a:t> is the building volume.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3660" y="39502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Activation-risk classification (VKG)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010718"/>
              </p:ext>
            </p:extLst>
          </p:nvPr>
        </p:nvGraphicFramePr>
        <p:xfrm>
          <a:off x="6400800" y="4668012"/>
          <a:ext cx="5257800" cy="13563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Room without electrical installations, without intended fire and without activating hazards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Retail, 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Shopping centers, Parking, 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Library, 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Hospital rooms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School classrooms, Restaurants (commercial),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Industry buildings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Residential use, 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Hotel rooms, 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Kitchen use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15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76C36FED-ADF9-ED28-B579-9B2636DC84F6}"/>
              </a:ext>
            </a:extLst>
          </p:cNvPr>
          <p:cNvSpPr/>
          <p:nvPr/>
        </p:nvSpPr>
        <p:spPr>
          <a:xfrm>
            <a:off x="6428232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Matrisk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BSV report, 2025</a:t>
            </a:r>
            <a:endParaRPr lang="en-US" sz="10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E584AC73-439A-5546-2BC0-FA51E3DCD116}"/>
              </a:ext>
            </a:extLst>
          </p:cNvPr>
          <p:cNvSpPr/>
          <p:nvPr/>
        </p:nvSpPr>
        <p:spPr>
          <a:xfrm>
            <a:off x="6446520" y="4230407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Classified based on the purpose code of the Association of Cantonal Building Insurance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FIRE-RISK MODELS  · EXAMPLE 4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Regression Models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extended with three forms of spatial dependence</a:t>
            </a:r>
            <a:endParaRPr lang="en-US" sz="1200" dirty="0"/>
          </a:p>
        </p:txBody>
      </p:sp>
      <p:pic>
        <p:nvPicPr>
          <p:cNvPr id="5" name="Image 0" descr="/sessions/peaceful-compassionate-goldberg/mnt/outputs/images_v2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321348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417320"/>
            <a:ext cx="4343400" cy="4937760"/>
          </a:xfrm>
          <a:prstGeom prst="roundRect">
            <a:avLst>
              <a:gd name="adj" fmla="val 1684"/>
            </a:avLst>
          </a:prstGeom>
          <a:solidFill>
            <a:srgbClr val="EEF3FA"/>
          </a:solidFill>
          <a:ln w="12700">
            <a:solidFill>
              <a:srgbClr val="B9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62672" y="15087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SPATIAL REGRESSORS</a:t>
            </a:r>
            <a:endParaRPr lang="en-US" sz="14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5762659-29B1-271C-38F0-EBF40F1498A4}"/>
              </a:ext>
            </a:extLst>
          </p:cNvPr>
          <p:cNvGrpSpPr/>
          <p:nvPr/>
        </p:nvGrpSpPr>
        <p:grpSpPr>
          <a:xfrm>
            <a:off x="7680960" y="1874520"/>
            <a:ext cx="4023360" cy="640080"/>
            <a:chOff x="7680960" y="1874520"/>
            <a:chExt cx="4023360" cy="640080"/>
          </a:xfrm>
        </p:grpSpPr>
        <p:sp>
          <p:nvSpPr>
            <p:cNvPr id="8" name="Shape 5"/>
            <p:cNvSpPr/>
            <p:nvPr/>
          </p:nvSpPr>
          <p:spPr>
            <a:xfrm>
              <a:off x="7680960" y="1874520"/>
              <a:ext cx="365760" cy="365760"/>
            </a:xfrm>
            <a:prstGeom prst="ellipse">
              <a:avLst/>
            </a:prstGeom>
            <a:solidFill>
              <a:srgbClr val="FFC000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" name="Text 6"/>
            <p:cNvSpPr/>
            <p:nvPr/>
          </p:nvSpPr>
          <p:spPr>
            <a:xfrm>
              <a:off x="768096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8183880" y="1874520"/>
              <a:ext cx="3520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Spatially lagged dependent variable</a:t>
              </a:r>
              <a:endParaRPr lang="en-US" sz="14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8183880" y="2240280"/>
              <a:ext cx="3520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 depends on neighbors' y (ρWy term)</a:t>
              </a:r>
              <a:endParaRPr lang="en-US" sz="105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BA107E-D823-C736-3626-B4BA5DB9DF4A}"/>
              </a:ext>
            </a:extLst>
          </p:cNvPr>
          <p:cNvGrpSpPr/>
          <p:nvPr/>
        </p:nvGrpSpPr>
        <p:grpSpPr>
          <a:xfrm>
            <a:off x="7680960" y="2606040"/>
            <a:ext cx="4023360" cy="640080"/>
            <a:chOff x="7680960" y="2971800"/>
            <a:chExt cx="4023360" cy="640080"/>
          </a:xfrm>
        </p:grpSpPr>
        <p:sp>
          <p:nvSpPr>
            <p:cNvPr id="12" name="Shape 9"/>
            <p:cNvSpPr/>
            <p:nvPr/>
          </p:nvSpPr>
          <p:spPr>
            <a:xfrm>
              <a:off x="7680960" y="2971800"/>
              <a:ext cx="365760" cy="365760"/>
            </a:xfrm>
            <a:prstGeom prst="ellipse">
              <a:avLst/>
            </a:prstGeom>
            <a:solidFill>
              <a:srgbClr val="FF0000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3" name="Text 10"/>
            <p:cNvSpPr/>
            <p:nvPr/>
          </p:nvSpPr>
          <p:spPr>
            <a:xfrm>
              <a:off x="768096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8183880" y="2971800"/>
              <a:ext cx="3520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Spatially lagged explanatory variables</a:t>
              </a:r>
              <a:endParaRPr lang="en-US" sz="14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8183880" y="3337560"/>
              <a:ext cx="3520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neighbors' X influence local y (WXγ term)</a:t>
              </a:r>
              <a:endParaRPr lang="en-US" sz="105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21B624-2C8A-B5BC-1FD5-ECD4D600ACFC}"/>
              </a:ext>
            </a:extLst>
          </p:cNvPr>
          <p:cNvGrpSpPr/>
          <p:nvPr/>
        </p:nvGrpSpPr>
        <p:grpSpPr>
          <a:xfrm>
            <a:off x="7680960" y="3337560"/>
            <a:ext cx="4023360" cy="640080"/>
            <a:chOff x="7680960" y="4069080"/>
            <a:chExt cx="4023360" cy="640080"/>
          </a:xfrm>
        </p:grpSpPr>
        <p:sp>
          <p:nvSpPr>
            <p:cNvPr id="16" name="Shape 13"/>
            <p:cNvSpPr/>
            <p:nvPr/>
          </p:nvSpPr>
          <p:spPr>
            <a:xfrm>
              <a:off x="7680960" y="4069080"/>
              <a:ext cx="365760" cy="365760"/>
            </a:xfrm>
            <a:prstGeom prst="ellipse">
              <a:avLst/>
            </a:prstGeom>
            <a:solidFill>
              <a:srgbClr val="C00000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" name="Text 14"/>
            <p:cNvSpPr/>
            <p:nvPr/>
          </p:nvSpPr>
          <p:spPr>
            <a:xfrm>
              <a:off x="768096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8183880" y="4069080"/>
              <a:ext cx="3520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Spatially lagged error term</a:t>
              </a:r>
              <a:endParaRPr lang="en-US" sz="14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8183880" y="4434840"/>
              <a:ext cx="3520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residuals correlated with neighbors (λWu term)</a:t>
              </a:r>
              <a:endParaRPr lang="en-US" sz="1050" dirty="0"/>
            </a:p>
          </p:txBody>
        </p:sp>
      </p:grpSp>
      <p:sp>
        <p:nvSpPr>
          <p:cNvPr id="20" name="Shape 17"/>
          <p:cNvSpPr/>
          <p:nvPr/>
        </p:nvSpPr>
        <p:spPr>
          <a:xfrm>
            <a:off x="7635240" y="4069080"/>
            <a:ext cx="4069080" cy="19568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 Ordinary Linear Regression hierarchy with spatial dependence. Adapted from Bispo et al. (2023).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EEA3280-CB63-7419-C36D-4974A9652750}"/>
              </a:ext>
            </a:extLst>
          </p:cNvPr>
          <p:cNvSpPr/>
          <p:nvPr/>
        </p:nvSpPr>
        <p:spPr>
          <a:xfrm>
            <a:off x="1416616" y="2377440"/>
            <a:ext cx="1336431" cy="738553"/>
          </a:xfrm>
          <a:prstGeom prst="roundRect">
            <a:avLst/>
          </a:prstGeom>
          <a:noFill/>
          <a:ln w="190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79A1D4C-C457-2EFB-2114-5F364D4477EB}"/>
              </a:ext>
            </a:extLst>
          </p:cNvPr>
          <p:cNvSpPr/>
          <p:nvPr/>
        </p:nvSpPr>
        <p:spPr>
          <a:xfrm>
            <a:off x="3041098" y="2374978"/>
            <a:ext cx="1336431" cy="738553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FE830EA-3EF5-E411-E160-9FDFB013646B}"/>
              </a:ext>
            </a:extLst>
          </p:cNvPr>
          <p:cNvSpPr/>
          <p:nvPr/>
        </p:nvSpPr>
        <p:spPr>
          <a:xfrm>
            <a:off x="4758045" y="2374978"/>
            <a:ext cx="1336431" cy="738553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FA06996-32D7-EE43-D4D8-FD18A8356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165" y="4245102"/>
            <a:ext cx="3988949" cy="16596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Research Gap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remain a substantial risk to life, property, and urban infrastructure — risk-reduction decisions operate at two scales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24896"/>
            <a:ext cx="5577840" cy="4389120"/>
          </a:xfrm>
          <a:prstGeom prst="roundRect">
            <a:avLst>
              <a:gd name="adj" fmla="val 1667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3992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F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BUILDING-LEVEL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918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analysis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313616"/>
            <a:ext cx="137160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777240" y="35422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9F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8165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building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255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9F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5297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Event/fault trees, Bayesian networks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968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9F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5243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occupant-behavior factors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5681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9F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59562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Matellini et al. (2013) · Hanea &amp; Ale (2009) · Tan et al. (T-H-O) (2021)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2124896"/>
            <a:ext cx="5577840" cy="4389120"/>
          </a:xfrm>
          <a:prstGeom prst="roundRect">
            <a:avLst>
              <a:gd name="adj" fmla="val 1667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23992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8C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COMMUNITY-LEVEL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6918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 prediction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583680" y="3313616"/>
            <a:ext cx="1371600" cy="0"/>
          </a:xfrm>
          <a:prstGeom prst="line">
            <a:avLst/>
          </a:prstGeom>
          <a:noFill/>
          <a:ln w="254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6583680" y="35422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8C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38165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area / community / census tracts 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4255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8C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45297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regression, machine learning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4968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8C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5243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Socio-demographic predictors (income, density, housing age)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681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8C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59562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Buffington et al. (2021) · Bispo et al. (2023) · Hao et al. (2023)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1383577"/>
            <a:ext cx="11384280" cy="566928"/>
          </a:xfrm>
          <a:prstGeom prst="roundRect">
            <a:avLst>
              <a:gd name="adj" fmla="val 8065"/>
            </a:avLst>
          </a:prstGeom>
          <a:solidFill>
            <a:srgbClr val="FFF7ED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1383577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</a:rPr>
              <a:t>Research Gap   </a:t>
            </a:r>
            <a:r>
              <a:rPr lang="en-US" sz="1600" dirty="0">
                <a:solidFill>
                  <a:srgbClr val="C2410C"/>
                </a:solidFill>
              </a:rPr>
              <a:t>·  </a:t>
            </a:r>
            <a:r>
              <a:rPr lang="en-US" sz="1600" dirty="0">
                <a:solidFill>
                  <a:srgbClr val="1E293B"/>
                </a:solidFill>
              </a:rPr>
              <a:t>A generic model connecting </a:t>
            </a:r>
            <a:r>
              <a:rPr lang="en-US" sz="1600" b="1" dirty="0">
                <a:solidFill>
                  <a:srgbClr val="1E293B"/>
                </a:solidFill>
              </a:rPr>
              <a:t>occurrence / ignition</a:t>
            </a:r>
            <a:r>
              <a:rPr lang="en-US" sz="1600" dirty="0">
                <a:solidFill>
                  <a:srgbClr val="1E293B"/>
                </a:solidFill>
              </a:rPr>
              <a:t> and </a:t>
            </a:r>
            <a:r>
              <a:rPr lang="en-US" sz="1600" b="1" dirty="0">
                <a:solidFill>
                  <a:srgbClr val="1E293B"/>
                </a:solidFill>
              </a:rPr>
              <a:t>consequence</a:t>
            </a:r>
            <a:r>
              <a:rPr lang="en-US" sz="1600" dirty="0">
                <a:solidFill>
                  <a:srgbClr val="1E293B"/>
                </a:solidFill>
              </a:rPr>
              <a:t> for building-level fire-risk analysis.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0" y="685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Fire Risk for Community Risk Management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propagation generates risk; backward selection refines models and data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418320" y="384048"/>
            <a:ext cx="502920" cy="0"/>
          </a:xfrm>
          <a:prstGeom prst="line">
            <a:avLst/>
          </a:prstGeom>
          <a:noFill/>
          <a:ln w="19050">
            <a:solidFill>
              <a:srgbClr val="1F3A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85248" y="228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propagation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418320" y="841248"/>
            <a:ext cx="502920" cy="0"/>
          </a:xfrm>
          <a:prstGeom prst="line">
            <a:avLst/>
          </a:prstGeom>
          <a:noFill/>
          <a:ln w="19050">
            <a:solidFill>
              <a:srgbClr val="3F7D58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85248" y="685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selection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88720" y="1481328"/>
            <a:ext cx="9921240" cy="109728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B9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" y="1481328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88720" y="2761488"/>
            <a:ext cx="9921240" cy="1097280"/>
          </a:xfrm>
          <a:prstGeom prst="roundRect">
            <a:avLst>
              <a:gd name="adj" fmla="val 5000"/>
            </a:avLst>
          </a:prstGeom>
          <a:solidFill>
            <a:srgbClr val="FDEDD7"/>
          </a:solidFill>
          <a:ln w="9525">
            <a:solidFill>
              <a:srgbClr val="E8B7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" y="2761488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88720" y="4078224"/>
            <a:ext cx="9921240" cy="1005840"/>
          </a:xfrm>
          <a:prstGeom prst="roundRect">
            <a:avLst>
              <a:gd name="adj" fmla="val 4615"/>
            </a:avLst>
          </a:prstGeom>
          <a:solidFill>
            <a:srgbClr val="DCEBED"/>
          </a:solidFill>
          <a:ln w="9525">
            <a:solidFill>
              <a:srgbClr val="9DB6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" y="3968496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FIRE-RISK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88720" y="5577839"/>
            <a:ext cx="9921240" cy="985768"/>
          </a:xfrm>
          <a:prstGeom prst="roundRect">
            <a:avLst>
              <a:gd name="adj" fmla="val 5000"/>
            </a:avLst>
          </a:prstGeom>
          <a:solidFill>
            <a:srgbClr val="E7F0E8"/>
          </a:solidFill>
          <a:ln w="9525">
            <a:solidFill>
              <a:srgbClr val="AF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" y="548640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9875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procedure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987552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procedure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14216" y="1210056"/>
            <a:ext cx="0" cy="548640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417320" y="1664208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1417320" y="1664208"/>
            <a:ext cx="23774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(training set)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events + features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1664208"/>
            <a:ext cx="3154680" cy="731520"/>
          </a:xfrm>
          <a:prstGeom prst="roundRect">
            <a:avLst>
              <a:gd name="adj" fmla="val 7500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0" y="1664208"/>
            <a:ext cx="31546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Building-level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(building area, occupancy)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18120" y="1664208"/>
            <a:ext cx="3154680" cy="731520"/>
          </a:xfrm>
          <a:prstGeom prst="roundRect">
            <a:avLst>
              <a:gd name="adj" fmla="val 7500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1664208"/>
            <a:ext cx="31546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Community-level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(socio-demographic factors)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17320" y="2990088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1417320" y="2990088"/>
            <a:ext cx="23774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· validate · select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944368"/>
            <a:ext cx="3520440" cy="73152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8" name="Text 26"/>
          <p:cNvSpPr/>
          <p:nvPr/>
        </p:nvSpPr>
        <p:spPr>
          <a:xfrm>
            <a:off x="6035040" y="2944368"/>
            <a:ext cx="35204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Building-level generic fire-risk model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417320" y="4197096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1417320" y="4197096"/>
            <a:ext cx="2377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events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(training output)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4197096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89120" y="4197096"/>
            <a:ext cx="31546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fire-risk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18120" y="4197096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818120" y="4197096"/>
            <a:ext cx="31546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fire risk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(aggregated)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43800" y="4581144"/>
            <a:ext cx="27432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389120" y="566928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3F7D58"/>
          </a:solidFill>
          <a:ln w="12700">
            <a:solidFill>
              <a:srgbClr val="3F7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89120" y="5669280"/>
            <a:ext cx="31546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Building-level decisions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(risk-reduction measures)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818120" y="566928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3F7D58"/>
          </a:solidFill>
          <a:ln w="12700">
            <a:solidFill>
              <a:srgbClr val="3F7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818120" y="5669280"/>
            <a:ext cx="31546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Community-level decisions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(risk-reduction measures)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66460" y="2395728"/>
            <a:ext cx="754380" cy="548640"/>
          </a:xfrm>
          <a:prstGeom prst="line">
            <a:avLst/>
          </a:prstGeom>
          <a:noFill/>
          <a:ln w="19050">
            <a:solidFill>
              <a:srgbClr val="1F3A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 flipH="1">
            <a:off x="8641080" y="2395728"/>
            <a:ext cx="754380" cy="594360"/>
          </a:xfrm>
          <a:prstGeom prst="line">
            <a:avLst/>
          </a:prstGeom>
          <a:noFill/>
          <a:ln w="19050">
            <a:solidFill>
              <a:srgbClr val="1F3A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606040" y="2395728"/>
            <a:ext cx="0" cy="594360"/>
          </a:xfrm>
          <a:prstGeom prst="line">
            <a:avLst/>
          </a:prstGeom>
          <a:noFill/>
          <a:ln w="15875">
            <a:solidFill>
              <a:srgbClr val="2E7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Shape 41"/>
          <p:cNvSpPr/>
          <p:nvPr/>
        </p:nvSpPr>
        <p:spPr>
          <a:xfrm>
            <a:off x="2606040" y="3630168"/>
            <a:ext cx="0" cy="566928"/>
          </a:xfrm>
          <a:prstGeom prst="line">
            <a:avLst/>
          </a:prstGeom>
          <a:noFill/>
          <a:ln w="15875">
            <a:solidFill>
              <a:srgbClr val="2E7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Shape 42"/>
          <p:cNvSpPr/>
          <p:nvPr/>
        </p:nvSpPr>
        <p:spPr>
          <a:xfrm>
            <a:off x="3794760" y="3310128"/>
            <a:ext cx="2240280" cy="0"/>
          </a:xfrm>
          <a:prstGeom prst="line">
            <a:avLst/>
          </a:prstGeom>
          <a:noFill/>
          <a:ln w="15875">
            <a:solidFill>
              <a:srgbClr val="2E7D8F"/>
            </a:solidFill>
            <a:prstDash val="dot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 flipH="1">
            <a:off x="6035039" y="3675889"/>
            <a:ext cx="685789" cy="50292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292840" y="5669280"/>
            <a:ext cx="0" cy="0"/>
          </a:xfrm>
          <a:prstGeom prst="line">
            <a:avLst/>
          </a:prstGeom>
          <a:noFill/>
          <a:ln w="15875">
            <a:solidFill>
              <a:srgbClr val="3F7D5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A5ADA5B-934A-484E-0AEB-C3F3D8687F2A}"/>
              </a:ext>
            </a:extLst>
          </p:cNvPr>
          <p:cNvGrpSpPr/>
          <p:nvPr/>
        </p:nvGrpSpPr>
        <p:grpSpPr>
          <a:xfrm>
            <a:off x="7063734" y="4114800"/>
            <a:ext cx="1234440" cy="384048"/>
            <a:chOff x="5542630" y="926014"/>
            <a:chExt cx="1234440" cy="384048"/>
          </a:xfrm>
        </p:grpSpPr>
        <p:sp>
          <p:nvSpPr>
            <p:cNvPr id="58" name="Shape 32">
              <a:extLst>
                <a:ext uri="{FF2B5EF4-FFF2-40B4-BE49-F238E27FC236}">
                  <a16:creationId xmlns:a16="http://schemas.microsoft.com/office/drawing/2014/main" id="{33FDC56B-B4C3-47E0-5673-09E0706B2002}"/>
                </a:ext>
              </a:extLst>
            </p:cNvPr>
            <p:cNvSpPr/>
            <p:nvPr/>
          </p:nvSpPr>
          <p:spPr>
            <a:xfrm>
              <a:off x="5542630" y="926014"/>
              <a:ext cx="1234440" cy="38404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2700">
              <a:solidFill>
                <a:srgbClr val="3F7D5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33">
              <a:extLst>
                <a:ext uri="{FF2B5EF4-FFF2-40B4-BE49-F238E27FC236}">
                  <a16:creationId xmlns:a16="http://schemas.microsoft.com/office/drawing/2014/main" id="{CEF6C791-3EE3-F2CA-949A-1B4BFC906DBC}"/>
                </a:ext>
              </a:extLst>
            </p:cNvPr>
            <p:cNvSpPr/>
            <p:nvPr/>
          </p:nvSpPr>
          <p:spPr>
            <a:xfrm>
              <a:off x="5542630" y="926014"/>
              <a:ext cx="1234440" cy="384048"/>
            </a:xfrm>
            <a:prstGeom prst="rect">
              <a:avLst/>
            </a:prstGeom>
            <a:noFill/>
            <a:ln>
              <a:solidFill>
                <a:srgbClr val="3F7D57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i="1" dirty="0">
                  <a:solidFill>
                    <a:srgbClr val="2E7D8F"/>
                  </a:solidFill>
                  <a:latin typeface="Calibri" pitchFamily="34" charset="0"/>
                  <a:cs typeface="Calibri" pitchFamily="34" charset="-120"/>
                </a:rPr>
                <a:t>Aggregation</a:t>
              </a:r>
              <a:endParaRPr lang="en-US" sz="1000" dirty="0">
                <a:solidFill>
                  <a:srgbClr val="2E7D8F"/>
                </a:solidFill>
              </a:endParaRPr>
            </a:p>
          </p:txBody>
        </p:sp>
      </p:grpSp>
      <p:sp>
        <p:nvSpPr>
          <p:cNvPr id="60" name="Down Arrow 59">
            <a:extLst>
              <a:ext uri="{FF2B5EF4-FFF2-40B4-BE49-F238E27FC236}">
                <a16:creationId xmlns:a16="http://schemas.microsoft.com/office/drawing/2014/main" id="{20508FAC-D6B5-D79D-A76B-42091D8B42F1}"/>
              </a:ext>
            </a:extLst>
          </p:cNvPr>
          <p:cNvSpPr/>
          <p:nvPr/>
        </p:nvSpPr>
        <p:spPr>
          <a:xfrm>
            <a:off x="6423660" y="5189654"/>
            <a:ext cx="2333897" cy="296746"/>
          </a:xfrm>
          <a:prstGeom prst="downArrow">
            <a:avLst/>
          </a:prstGeom>
          <a:solidFill>
            <a:srgbClr val="2E7D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C72CEACC-2C89-8DA4-6620-58D01196AA95}"/>
              </a:ext>
            </a:extLst>
          </p:cNvPr>
          <p:cNvSpPr/>
          <p:nvPr/>
        </p:nvSpPr>
        <p:spPr>
          <a:xfrm>
            <a:off x="4980433" y="1216152"/>
            <a:ext cx="1972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Building-level</a:t>
            </a:r>
            <a:endParaRPr lang="en-US" sz="1050" dirty="0"/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13E609DF-DD73-A152-7488-2942D6B9D0B0}"/>
              </a:ext>
            </a:extLst>
          </p:cNvPr>
          <p:cNvSpPr/>
          <p:nvPr/>
        </p:nvSpPr>
        <p:spPr>
          <a:xfrm>
            <a:off x="8293825" y="1216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Community-level</a:t>
            </a:r>
            <a:endParaRPr lang="en-US" sz="1050" dirty="0"/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5DDA4D15-CE6E-6516-BF57-A5E6B0F324B5}"/>
              </a:ext>
            </a:extLst>
          </p:cNvPr>
          <p:cNvCxnSpPr>
            <a:cxnSpLocks/>
          </p:cNvCxnSpPr>
          <p:nvPr/>
        </p:nvCxnSpPr>
        <p:spPr>
          <a:xfrm flipV="1">
            <a:off x="11109961" y="2029968"/>
            <a:ext cx="12700" cy="4023360"/>
          </a:xfrm>
          <a:prstGeom prst="bentConnector3">
            <a:avLst>
              <a:gd name="adj1" fmla="val 5204693"/>
            </a:avLst>
          </a:prstGeom>
          <a:ln w="19050"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44C991B-B058-EBAF-D280-1FB9B050E3A4}"/>
              </a:ext>
            </a:extLst>
          </p:cNvPr>
          <p:cNvSpPr txBox="1"/>
          <p:nvPr/>
        </p:nvSpPr>
        <p:spPr>
          <a:xfrm>
            <a:off x="11169396" y="5781782"/>
            <a:ext cx="5212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i="1" dirty="0">
                <a:solidFill>
                  <a:srgbClr val="2E7D8F"/>
                </a:solidFill>
                <a:latin typeface="Calibri" pitchFamily="34" charset="0"/>
                <a:cs typeface="Calibri" pitchFamily="34" charset="-120"/>
              </a:rPr>
              <a:t>VOI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1CB1B5DC-9927-8B54-6E4C-A1E17FD20A7C}"/>
              </a:ext>
            </a:extLst>
          </p:cNvPr>
          <p:cNvCxnSpPr>
            <a:cxnSpLocks/>
          </p:cNvCxnSpPr>
          <p:nvPr/>
        </p:nvCxnSpPr>
        <p:spPr>
          <a:xfrm rot="10800000">
            <a:off x="11122661" y="2157984"/>
            <a:ext cx="12700" cy="2423160"/>
          </a:xfrm>
          <a:prstGeom prst="bentConnector3">
            <a:avLst>
              <a:gd name="adj1" fmla="val -4027866"/>
            </a:avLst>
          </a:prstGeom>
          <a:ln w="19050">
            <a:solidFill>
              <a:srgbClr val="2E7D8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E6D78F55-1A18-814B-8C7A-EC73BB781FD0}"/>
              </a:ext>
            </a:extLst>
          </p:cNvPr>
          <p:cNvSpPr txBox="1"/>
          <p:nvPr/>
        </p:nvSpPr>
        <p:spPr>
          <a:xfrm>
            <a:off x="11018508" y="4222742"/>
            <a:ext cx="68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i="1" dirty="0">
                <a:solidFill>
                  <a:srgbClr val="2E7D8F"/>
                </a:solidFill>
                <a:latin typeface="Calibri" pitchFamily="34" charset="0"/>
                <a:cs typeface="Calibri" pitchFamily="34" charset="-120"/>
              </a:rPr>
              <a:t>Sensitivity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COMMUNITY-LEVEL INPUTS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Factors for Fire Occurrence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and effects identified in the empirical literature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77840" cy="3657600"/>
          </a:xfrm>
          <a:prstGeom prst="roundRect">
            <a:avLst>
              <a:gd name="adj" fmla="val 1860"/>
            </a:avLst>
          </a:prstGeom>
          <a:solidFill>
            <a:srgbClr val="EEF3FA"/>
          </a:solidFill>
          <a:ln w="12700">
            <a:solidFill>
              <a:srgbClr val="B9CCE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463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HUMAN-RELATED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occupants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occupants → more ignition sources, greater exposure. </a:t>
            </a:r>
          </a:p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 is the most critical predictor (Buffington et al. 2021, Bispo et al. 2023, Ma et al. 2023)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999231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999231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410711"/>
            <a:ext cx="5120640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communities cannot afford detectors, maintenance, or fire-safe heating.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income → lower fire incidence (Duncanson et al. 2002, Buffington et al. 2023).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580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Education-level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389120"/>
            <a:ext cx="5120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education → reduced risk awareness → higher fire frequency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(Corcoran et al. 2007, Hu et al. 2019, Anderson-Bell et al. 2021).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371600"/>
            <a:ext cx="5577840" cy="3657600"/>
          </a:xfrm>
          <a:prstGeom prst="roundRect">
            <a:avLst>
              <a:gd name="adj" fmla="val 1860"/>
            </a:avLst>
          </a:prstGeom>
          <a:solidFill>
            <a:srgbClr val="E7F0E8"/>
          </a:solidFill>
          <a:ln w="12700">
            <a:solidFill>
              <a:srgbClr val="AFCFB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28232" y="1463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BUILDING-RELATED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178308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3F7D58"/>
          </a:solidFill>
          <a:ln w="12700">
            <a:solidFill>
              <a:srgbClr val="3F7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volume / area</a:t>
            </a:r>
            <a:endParaRPr lang="en-US" sz="12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5D283AB-4C49-A770-4280-EA609EE3351C}"/>
              </a:ext>
            </a:extLst>
          </p:cNvPr>
          <p:cNvGrpSpPr/>
          <p:nvPr/>
        </p:nvGrpSpPr>
        <p:grpSpPr>
          <a:xfrm>
            <a:off x="9235440" y="1783080"/>
            <a:ext cx="2194560" cy="365760"/>
            <a:chOff x="6492240" y="2743200"/>
            <a:chExt cx="2194560" cy="365760"/>
          </a:xfrm>
        </p:grpSpPr>
        <p:sp>
          <p:nvSpPr>
            <p:cNvPr id="21" name="Shape 19"/>
            <p:cNvSpPr/>
            <p:nvPr/>
          </p:nvSpPr>
          <p:spPr>
            <a:xfrm>
              <a:off x="6492240" y="2743200"/>
              <a:ext cx="2194560" cy="365760"/>
            </a:xfrm>
            <a:prstGeom prst="roundRect">
              <a:avLst>
                <a:gd name="adj" fmla="val 15000"/>
              </a:avLst>
            </a:prstGeom>
            <a:solidFill>
              <a:srgbClr val="3F7D58"/>
            </a:solidFill>
            <a:ln w="12700">
              <a:solidFill>
                <a:srgbClr val="3F7D5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6492240" y="274320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Building usage</a:t>
              </a:r>
              <a:endParaRPr lang="en-US" sz="120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9235440" y="2203703"/>
            <a:ext cx="2194560" cy="39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Activation-risk class (VKG): residential, hotel, retail, industrial, etc.</a:t>
            </a:r>
            <a:endParaRPr lang="en-US" sz="105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E2842A0-264D-406A-A6B4-990724662A28}"/>
              </a:ext>
            </a:extLst>
          </p:cNvPr>
          <p:cNvGrpSpPr/>
          <p:nvPr/>
        </p:nvGrpSpPr>
        <p:grpSpPr>
          <a:xfrm>
            <a:off x="6423660" y="3182112"/>
            <a:ext cx="2606040" cy="365760"/>
            <a:chOff x="6492240" y="3840480"/>
            <a:chExt cx="2606040" cy="365760"/>
          </a:xfrm>
        </p:grpSpPr>
        <p:sp>
          <p:nvSpPr>
            <p:cNvPr id="24" name="Shape 22"/>
            <p:cNvSpPr/>
            <p:nvPr/>
          </p:nvSpPr>
          <p:spPr>
            <a:xfrm>
              <a:off x="6492240" y="3840480"/>
              <a:ext cx="2606040" cy="365760"/>
            </a:xfrm>
            <a:prstGeom prst="roundRect">
              <a:avLst>
                <a:gd name="adj" fmla="val 15000"/>
              </a:avLst>
            </a:prstGeom>
            <a:solidFill>
              <a:srgbClr val="3F7D58"/>
            </a:solidFill>
            <a:ln w="12700">
              <a:solidFill>
                <a:srgbClr val="3F7D5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6492240" y="3840480"/>
              <a:ext cx="2606040" cy="3657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 / condition / degradation</a:t>
              </a:r>
              <a:endParaRPr lang="en-US" sz="1200" dirty="0"/>
            </a:p>
          </p:txBody>
        </p:sp>
      </p:grpSp>
      <p:sp>
        <p:nvSpPr>
          <p:cNvPr id="26" name="Text 24"/>
          <p:cNvSpPr/>
          <p:nvPr/>
        </p:nvSpPr>
        <p:spPr>
          <a:xfrm>
            <a:off x="6483096" y="3685032"/>
            <a:ext cx="52212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housing quality creates structural vulnerabilities: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Deteriorated wiring, failing heaters, substandard materials → higher ignition rates.</a:t>
            </a:r>
          </a:p>
          <a:p>
            <a:pPr marL="0" indent="0">
              <a:buNone/>
            </a:pPr>
            <a:endParaRPr lang="en-US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via pre-1950 stock (Buffington), degraded density (Bispo), post-1980 ratio (Ma).</a:t>
            </a:r>
          </a:p>
          <a:p>
            <a:endParaRPr lang="en-US" sz="1050" dirty="0"/>
          </a:p>
          <a:p>
            <a:r>
              <a:rPr lang="en-US" sz="1050" dirty="0"/>
              <a:t>Bispo et al. (2023) represent this factor through degraded building density; Buffington et al. (2021) through pre-1950 housing stock; and Ma et al. (2025) through the ratio of buildings constructed after 1980. </a:t>
            </a:r>
          </a:p>
        </p:txBody>
      </p:sp>
      <p:sp>
        <p:nvSpPr>
          <p:cNvPr id="27" name="Shape 25"/>
          <p:cNvSpPr/>
          <p:nvPr/>
        </p:nvSpPr>
        <p:spPr>
          <a:xfrm>
            <a:off x="457200" y="5486400"/>
            <a:ext cx="5577840" cy="86868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0080" y="5650992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5650992"/>
            <a:ext cx="1280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effect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011680" y="5650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winters drive seasonal peaks consistently across U.S. regions (Ma et al. 2025).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5486400"/>
            <a:ext cx="5577840" cy="86868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46520" y="5650992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46520" y="5650992"/>
            <a:ext cx="1280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effect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18120" y="565099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dependence demonstrated at census-tract level in Portugal (Bispo et al. 2023).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77A39C6F-EF0A-A4C7-B793-132F80D40AD3}"/>
              </a:ext>
            </a:extLst>
          </p:cNvPr>
          <p:cNvSpPr/>
          <p:nvPr/>
        </p:nvSpPr>
        <p:spPr>
          <a:xfrm>
            <a:off x="350520" y="5212080"/>
            <a:ext cx="11655552" cy="1325880"/>
          </a:xfrm>
          <a:prstGeom prst="roundRect">
            <a:avLst>
              <a:gd name="adj" fmla="val 1860"/>
            </a:avLst>
          </a:prstGeom>
          <a:noFill/>
          <a:ln w="12700">
            <a:solidFill>
              <a:srgbClr val="C241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FA77D60A-6335-9B5D-EDA3-DE8F2C345D26}"/>
              </a:ext>
            </a:extLst>
          </p:cNvPr>
          <p:cNvSpPr/>
          <p:nvPr/>
        </p:nvSpPr>
        <p:spPr>
          <a:xfrm>
            <a:off x="457200" y="5212080"/>
            <a:ext cx="665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</a:t>
            </a:r>
            <a:endParaRPr lang="en-US" sz="1050" dirty="0"/>
          </a:p>
        </p:txBody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DE846AC5-37F8-D5BE-1B83-CD8F9531594A}"/>
              </a:ext>
            </a:extLst>
          </p:cNvPr>
          <p:cNvSpPr/>
          <p:nvPr/>
        </p:nvSpPr>
        <p:spPr>
          <a:xfrm>
            <a:off x="579120" y="1703866"/>
            <a:ext cx="11125200" cy="1139918"/>
          </a:xfrm>
          <a:prstGeom prst="roundRect">
            <a:avLst>
              <a:gd name="adj" fmla="val 1404"/>
            </a:avLst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75E7A2BB-F09A-3DF7-0CB7-6015C949ED6F}"/>
              </a:ext>
            </a:extLst>
          </p:cNvPr>
          <p:cNvSpPr/>
          <p:nvPr/>
        </p:nvSpPr>
        <p:spPr>
          <a:xfrm>
            <a:off x="8264414" y="2542032"/>
            <a:ext cx="15580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7D58"/>
                </a:solidFill>
                <a:latin typeface="Calibri" pitchFamily="34" charset="0"/>
                <a:cs typeface="Calibri" pitchFamily="34" charset="-120"/>
              </a:rPr>
              <a:t>Tradition model</a:t>
            </a:r>
            <a:endParaRPr lang="en-US" sz="1600" dirty="0">
              <a:solidFill>
                <a:srgbClr val="3F7D58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80EA6B2-4467-E804-B073-4C3B69A63E2A}"/>
              </a:ext>
            </a:extLst>
          </p:cNvPr>
          <p:cNvCxnSpPr>
            <a:cxnSpLocks/>
          </p:cNvCxnSpPr>
          <p:nvPr/>
        </p:nvCxnSpPr>
        <p:spPr>
          <a:xfrm flipV="1">
            <a:off x="2606040" y="1965960"/>
            <a:ext cx="3886200" cy="9142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F5DE7D-2D28-2750-D324-79B8768D55E2}"/>
              </a:ext>
            </a:extLst>
          </p:cNvPr>
          <p:cNvGrpSpPr/>
          <p:nvPr/>
        </p:nvGrpSpPr>
        <p:grpSpPr>
          <a:xfrm>
            <a:off x="4654296" y="1783080"/>
            <a:ext cx="1234440" cy="384048"/>
            <a:chOff x="6766560" y="356616"/>
            <a:chExt cx="1234440" cy="384048"/>
          </a:xfrm>
        </p:grpSpPr>
        <p:sp>
          <p:nvSpPr>
            <p:cNvPr id="47" name="Shape 30">
              <a:extLst>
                <a:ext uri="{FF2B5EF4-FFF2-40B4-BE49-F238E27FC236}">
                  <a16:creationId xmlns:a16="http://schemas.microsoft.com/office/drawing/2014/main" id="{BC826ED1-F91A-F50A-5D04-502B0DD9EC4B}"/>
                </a:ext>
              </a:extLst>
            </p:cNvPr>
            <p:cNvSpPr/>
            <p:nvPr/>
          </p:nvSpPr>
          <p:spPr>
            <a:xfrm>
              <a:off x="6766560" y="356616"/>
              <a:ext cx="1234440" cy="38404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2700">
              <a:solidFill>
                <a:schemeClr val="accent1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48" name="Text 31">
              <a:extLst>
                <a:ext uri="{FF2B5EF4-FFF2-40B4-BE49-F238E27FC236}">
                  <a16:creationId xmlns:a16="http://schemas.microsoft.com/office/drawing/2014/main" id="{75C05FC3-BD33-2094-E9B0-A5BFBF799BE5}"/>
                </a:ext>
              </a:extLst>
            </p:cNvPr>
            <p:cNvSpPr/>
            <p:nvPr/>
          </p:nvSpPr>
          <p:spPr>
            <a:xfrm>
              <a:off x="6766560" y="356616"/>
              <a:ext cx="1234440" cy="38404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i="1" dirty="0">
                  <a:solidFill>
                    <a:srgbClr val="0070C0"/>
                  </a:solidFill>
                  <a:latin typeface="Calibri" pitchFamily="34" charset="0"/>
                  <a:cs typeface="Calibri" pitchFamily="34" charset="-120"/>
                </a:rPr>
                <a:t>Proxy</a:t>
              </a:r>
            </a:p>
            <a:p>
              <a:pPr marL="0" indent="0" algn="ctr">
                <a:buNone/>
              </a:pPr>
              <a:r>
                <a:rPr lang="en-US" sz="900" b="1" i="1" dirty="0">
                  <a:solidFill>
                    <a:srgbClr val="0070C0"/>
                  </a:solidFill>
                  <a:latin typeface="Calibri" pitchFamily="34" charset="0"/>
                  <a:cs typeface="Calibri" pitchFamily="34" charset="-120"/>
                </a:rPr>
                <a:t>To occupants' behaviors</a:t>
              </a:r>
              <a:endParaRPr lang="en-US" sz="900" dirty="0">
                <a:solidFill>
                  <a:srgbClr val="0070C0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FIRE-RISK MODEL — OCCURRENCE / IGNITION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 ·  Traditional (Volume-based) Models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rate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function of building volume / floor area and building (activation-risk) type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61320" y="27432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6132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9F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502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5F7FA"/>
          </a:solidFill>
          <a:ln w="12700">
            <a:solidFill>
              <a:srgbClr val="D1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FRAMEWORK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number of fire incidents: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3232" y="3731876"/>
            <a:ext cx="5120640" cy="547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1F3A68"/>
                </a:solidFill>
              </a:rPr>
              <a:t>N</a:t>
            </a:r>
            <a:r>
              <a:rPr lang="en-US" sz="1400" b="1" i="1" baseline="-25000" dirty="0">
                <a:solidFill>
                  <a:srgbClr val="1F3A68"/>
                </a:solidFill>
              </a:rPr>
              <a:t>F</a:t>
            </a:r>
            <a:r>
              <a:rPr lang="en-US" sz="1400" b="1" i="1" dirty="0">
                <a:solidFill>
                  <a:srgbClr val="1F3A68"/>
                </a:solidFill>
              </a:rPr>
              <a:t>  </a:t>
            </a:r>
            <a:r>
              <a:rPr lang="en-US" sz="1200" dirty="0">
                <a:solidFill>
                  <a:srgbClr val="1E293B"/>
                </a:solidFill>
              </a:rPr>
              <a:t>= annual fire-incident count in a building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1F3A68"/>
                </a:solidFill>
              </a:rPr>
              <a:t>λ  </a:t>
            </a:r>
            <a:r>
              <a:rPr lang="en-US" sz="1200" dirty="0">
                <a:solidFill>
                  <a:srgbClr val="1E293B"/>
                </a:solidFill>
              </a:rPr>
              <a:t>= fire rate (modelled at three levels)</a:t>
            </a:r>
          </a:p>
        </p:txBody>
      </p:sp>
      <p:sp>
        <p:nvSpPr>
          <p:cNvPr id="13" name="Shape 10"/>
          <p:cNvSpPr/>
          <p:nvPr/>
        </p:nvSpPr>
        <p:spPr>
          <a:xfrm>
            <a:off x="6263640" y="14173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EEF3FA"/>
          </a:solidFill>
          <a:ln w="12700">
            <a:solidFill>
              <a:srgbClr val="B9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28232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 ·  TRADITIONAL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92240" y="1874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volume / floor area as proxy for occupant population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178040" y="2423160"/>
            <a:ext cx="3749040" cy="576072"/>
          </a:xfrm>
          <a:prstGeom prst="roundRect">
            <a:avLst>
              <a:gd name="adj" fmla="val 7619"/>
            </a:avLst>
          </a:prstGeom>
          <a:noFill/>
          <a:ln w="15875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8" name="Text 15"/>
          <p:cNvSpPr/>
          <p:nvPr/>
        </p:nvSpPr>
        <p:spPr>
          <a:xfrm>
            <a:off x="6492240" y="3731876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1F3A68"/>
                </a:solidFill>
              </a:rPr>
              <a:t>V</a:t>
            </a:r>
            <a:r>
              <a:rPr lang="en-US" sz="1200" dirty="0">
                <a:solidFill>
                  <a:srgbClr val="1E293B"/>
                </a:solidFill>
              </a:rPr>
              <a:t>  building volume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1F3A68"/>
                </a:solidFill>
              </a:rPr>
              <a:t>type</a:t>
            </a:r>
            <a:r>
              <a:rPr lang="en-US" sz="1200" dirty="0">
                <a:solidFill>
                  <a:srgbClr val="1E293B"/>
                </a:solidFill>
              </a:rPr>
              <a:t>  building usage type / activation-risk class (VKG)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1F3A68"/>
                </a:solidFill>
              </a:rPr>
              <a:t>f( · )</a:t>
            </a:r>
            <a:r>
              <a:rPr lang="en-US" sz="1200" dirty="0">
                <a:solidFill>
                  <a:srgbClr val="1E293B"/>
                </a:solidFill>
              </a:rPr>
              <a:t>  empirical fit (Barrois / Matrisk)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92240" y="4752704"/>
            <a:ext cx="5120640" cy="1005840"/>
          </a:xfrm>
          <a:prstGeom prst="roundRect">
            <a:avLst>
              <a:gd name="adj" fmla="val 4545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629400" y="479842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</a:rPr>
              <a:t>Limitation   </a:t>
            </a:r>
            <a:r>
              <a:rPr lang="en-US" sz="1400" dirty="0">
                <a:solidFill>
                  <a:srgbClr val="1E293B"/>
                </a:solidFill>
              </a:rPr>
              <a:t>Ignores socio-demographic and temporal predictors. Volume alone is a coarse proxy for the true ignition drivers.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B39809-B50A-D3F2-95AA-A2DA449A789E}"/>
                  </a:ext>
                </a:extLst>
              </p:cNvPr>
              <p:cNvSpPr txBox="1"/>
              <p:nvPr/>
            </p:nvSpPr>
            <p:spPr>
              <a:xfrm>
                <a:off x="2226449" y="2423160"/>
                <a:ext cx="2039341" cy="8572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𝑃𝑜𝑖𝑠𝑠𝑜𝑛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B39809-B50A-D3F2-95AA-A2DA449A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449" y="2423160"/>
                <a:ext cx="2039341" cy="857286"/>
              </a:xfrm>
              <a:prstGeom prst="rect">
                <a:avLst/>
              </a:prstGeom>
              <a:blipFill>
                <a:blip r:embed="rId3"/>
                <a:stretch>
                  <a:fillRect l="-1242" t="-2941"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70E1F9D8-C853-5F04-E5A5-6398D3891054}"/>
              </a:ext>
            </a:extLst>
          </p:cNvPr>
          <p:cNvSpPr txBox="1"/>
          <p:nvPr/>
        </p:nvSpPr>
        <p:spPr>
          <a:xfrm>
            <a:off x="621792" y="4730822"/>
            <a:ext cx="4701322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93B"/>
                </a:solidFill>
              </a:rPr>
              <a:t>Level 1</a:t>
            </a:r>
            <a:r>
              <a:rPr lang="en-US" sz="1600" dirty="0">
                <a:solidFill>
                  <a:srgbClr val="1E293B"/>
                </a:solidFill>
              </a:rPr>
              <a:t>: Volume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93B"/>
                </a:solidFill>
              </a:rPr>
              <a:t>Level 2</a:t>
            </a:r>
            <a:r>
              <a:rPr lang="en-US" sz="1600" dirty="0">
                <a:solidFill>
                  <a:srgbClr val="1E293B"/>
                </a:solidFill>
              </a:rPr>
              <a:t>: Socio-demographic factors + Linear additive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93B"/>
                </a:solidFill>
              </a:rPr>
              <a:t>Level 3</a:t>
            </a:r>
            <a:r>
              <a:rPr lang="en-US" sz="1600" dirty="0">
                <a:solidFill>
                  <a:srgbClr val="1E293B"/>
                </a:solidFill>
              </a:rPr>
              <a:t>: Nonlinear intercorrelated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9C67FA4-3893-A4FA-7C16-04678D79987E}"/>
                  </a:ext>
                </a:extLst>
              </p:cNvPr>
              <p:cNvSpPr txBox="1"/>
              <p:nvPr/>
            </p:nvSpPr>
            <p:spPr>
              <a:xfrm>
                <a:off x="8032889" y="2628122"/>
                <a:ext cx="15619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𝑡𝑦𝑝𝑒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9C67FA4-3893-A4FA-7C16-04678D799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2889" y="2628122"/>
                <a:ext cx="1561966" cy="276999"/>
              </a:xfrm>
              <a:prstGeom prst="rect">
                <a:avLst/>
              </a:prstGeom>
              <a:blipFill>
                <a:blip r:embed="rId4"/>
                <a:stretch>
                  <a:fillRect l="-1613" r="-3226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FIRE-RISK MODEL — OCCURRENCE / IGNITION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 ·  Linear-Additive with Socio-Demographic Predictors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+ linear contributions from input variables, hierarchical across spatial scales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61320" y="27432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6132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4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502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577840" cy="4846320"/>
          </a:xfrm>
          <a:prstGeom prst="roundRect">
            <a:avLst>
              <a:gd name="adj" fmla="val 1509"/>
            </a:avLst>
          </a:prstGeom>
          <a:noFill/>
          <a:ln w="12700">
            <a:solidFill>
              <a:srgbClr val="D1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FORMULATION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generalized linear-additive part: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685800" y="3063240"/>
                <a:ext cx="5120640" cy="8229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400" b="1" i="1" dirty="0">
                    <a:solidFill>
                      <a:srgbClr val="2E7D8F"/>
                    </a:solidFill>
                  </a:rPr>
                  <a:t>Assumption: </a:t>
                </a:r>
                <a:r>
                  <a:rPr lang="en-US" sz="1200" dirty="0">
                    <a:solidFill>
                      <a:srgbClr val="1E293B"/>
                    </a:solidFill>
                  </a:rPr>
                  <a:t>Input variables are independent</a:t>
                </a:r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400" b="1" i="1" dirty="0">
                    <a:solidFill>
                      <a:srgbClr val="2E7D8F"/>
                    </a:solidFill>
                  </a:rPr>
                  <a:t>X</a:t>
                </a:r>
                <a:r>
                  <a:rPr lang="en-US" sz="1200" dirty="0">
                    <a:solidFill>
                      <a:srgbClr val="1E293B"/>
                    </a:solidFill>
                  </a:rPr>
                  <a:t>  socio-demographic variables</a:t>
                </a:r>
                <a:endParaRPr lang="en-US" sz="1400" dirty="0"/>
              </a:p>
              <a:p>
                <a:pPr marL="0" indent="0">
                  <a:spcAft>
                    <a:spcPts val="4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2E7D8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1200" dirty="0">
                    <a:solidFill>
                      <a:srgbClr val="1E293B"/>
                    </a:solidFill>
                  </a:rPr>
                  <a:t>  coefficient vector</a:t>
                </a:r>
                <a:endParaRPr lang="en-US" sz="1400" dirty="0"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063240"/>
                <a:ext cx="5120640" cy="822960"/>
              </a:xfrm>
              <a:prstGeom prst="rect">
                <a:avLst/>
              </a:prstGeom>
              <a:blipFill>
                <a:blip r:embed="rId3"/>
                <a:stretch>
                  <a:fillRect l="-2228" t="-1515" b="-454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2"/>
          <p:cNvSpPr/>
          <p:nvPr/>
        </p:nvSpPr>
        <p:spPr>
          <a:xfrm>
            <a:off x="68580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Spatial-temporal extension (time effect):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685800" y="5143500"/>
                <a:ext cx="512064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Seasonal / temporal heterogeneity captured via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20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𝛽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200" dirty="0"/>
              </a:p>
            </p:txBody>
          </p:sp>
        </mc:Choice>
        <mc:Fallback xmlns=""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143500"/>
                <a:ext cx="5120640" cy="365760"/>
              </a:xfrm>
              <a:prstGeom prst="rect">
                <a:avLst/>
              </a:prstGeom>
              <a:blipFill>
                <a:blip r:embed="rId4"/>
                <a:stretch>
                  <a:fillRect l="-198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16"/>
          <p:cNvSpPr/>
          <p:nvPr/>
        </p:nvSpPr>
        <p:spPr>
          <a:xfrm>
            <a:off x="6263640" y="14173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EAEFEF"/>
          </a:solidFill>
          <a:ln w="12700">
            <a:solidFill>
              <a:srgbClr val="9DB6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8232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BAYESIAN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building  →  Community  →  City  →  Country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233172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905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9400" y="2514600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68"/>
                </a:solidFill>
              </a:rPr>
              <a:t>Country level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3246120"/>
            <a:ext cx="4617720" cy="26517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E7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3720" y="3337560"/>
            <a:ext cx="4343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7D8F"/>
                </a:solidFill>
              </a:rPr>
              <a:t>City level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40880" y="4160520"/>
            <a:ext cx="4069080" cy="154533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78040" y="425196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2410C"/>
                </a:solidFill>
              </a:rPr>
              <a:t>Community level</a:t>
            </a: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6C85C60-256C-B4F1-0A19-B0D605D9DD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0839"/>
          <a:stretch>
            <a:fillRect/>
          </a:stretch>
        </p:blipFill>
        <p:spPr>
          <a:xfrm>
            <a:off x="2423160" y="2240280"/>
            <a:ext cx="1645920" cy="42596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AE9CBAF-E011-0002-5F52-EF3B4B47FE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553712"/>
            <a:ext cx="2834640" cy="4340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998451D-6076-E6A9-3431-B92B5B696475}"/>
                  </a:ext>
                </a:extLst>
              </p:cNvPr>
              <p:cNvSpPr txBox="1"/>
              <p:nvPr/>
            </p:nvSpPr>
            <p:spPr>
              <a:xfrm>
                <a:off x="6530793" y="2724896"/>
                <a:ext cx="23134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𝑐𝑜𝑢𝑛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𝑐𝑜𝑢𝑛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998451D-6076-E6A9-3431-B92B5B696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793" y="2724896"/>
                <a:ext cx="2313432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66B915C-5849-F407-2EC9-D13B530D7131}"/>
                  </a:ext>
                </a:extLst>
              </p:cNvPr>
              <p:cNvSpPr txBox="1"/>
              <p:nvPr/>
            </p:nvSpPr>
            <p:spPr>
              <a:xfrm>
                <a:off x="7290054" y="5029789"/>
                <a:ext cx="3792474" cy="4565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Aft>
                    <a:spcPts val="200"/>
                  </a:spcAft>
                  <a:buNone/>
                </a:pPr>
                <a:r>
                  <a:rPr lang="en-US" sz="1100" i="1" dirty="0">
                    <a:solidFill>
                      <a:srgbClr val="64748B"/>
                    </a:solidFill>
                  </a:rPr>
                  <a:t>Assumption: </a:t>
                </a:r>
              </a:p>
              <a:p>
                <a:pPr marL="0" indent="0">
                  <a:spcAft>
                    <a:spcPts val="200"/>
                  </a:spcAft>
                  <a:buNone/>
                </a:pPr>
                <a:r>
                  <a:rPr lang="en-US" sz="1100" i="1" dirty="0">
                    <a:solidFill>
                      <a:srgbClr val="64748B"/>
                    </a:solidFill>
                  </a:rPr>
                  <a:t>within the same community, 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100" i="1" dirty="0">
                    <a:solidFill>
                      <a:srgbClr val="64748B"/>
                    </a:solidFill>
                  </a:rPr>
                  <a:t> is the same at the building level </a:t>
                </a:r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66B915C-5849-F407-2EC9-D13B530D7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054" y="5029789"/>
                <a:ext cx="3792474" cy="456535"/>
              </a:xfrm>
              <a:prstGeom prst="rect">
                <a:avLst/>
              </a:prstGeom>
              <a:blipFill>
                <a:blip r:embed="rId7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B434DB5-AC27-0A87-5987-EAC16BD7D65D}"/>
                  </a:ext>
                </a:extLst>
              </p:cNvPr>
              <p:cNvSpPr txBox="1"/>
              <p:nvPr/>
            </p:nvSpPr>
            <p:spPr>
              <a:xfrm>
                <a:off x="6766560" y="3596283"/>
                <a:ext cx="3337559" cy="4152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𝑐𝑖𝑡𝑦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𝑐𝑜𝑢𝑛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𝑐𝑜𝑢𝑛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𝑐𝑖𝑡𝑦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B434DB5-AC27-0A87-5987-EAC16BD7D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60" y="3596283"/>
                <a:ext cx="3337559" cy="415242"/>
              </a:xfrm>
              <a:prstGeom prst="rect">
                <a:avLst/>
              </a:prstGeom>
              <a:blipFill>
                <a:blip r:embed="rId8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8B15F30-AD29-4376-0FF9-AB7C77D36E17}"/>
                  </a:ext>
                </a:extLst>
              </p:cNvPr>
              <p:cNvSpPr txBox="1"/>
              <p:nvPr/>
            </p:nvSpPr>
            <p:spPr>
              <a:xfrm>
                <a:off x="6903720" y="4523684"/>
                <a:ext cx="2747155" cy="420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𝑐𝑖𝑡𝑦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𝑐𝑖𝑡𝑦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8B15F30-AD29-4376-0FF9-AB7C77D36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720" y="4523684"/>
                <a:ext cx="2747155" cy="420243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FIRE-RISK MODEL — OCCURRENCE / IGNITION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 ·  Nonlinear with Variable Correlations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interactions and complex relationships among input variables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61320" y="27432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61320" y="320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8C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1320" y="502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5F7FA"/>
          </a:solidFill>
          <a:ln w="12700">
            <a:solidFill>
              <a:srgbClr val="D1D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A  ·  VOLUME INDEPENDENT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volume kept independent;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function for the remaining input variables.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60604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2E7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13232" y="4434841"/>
            <a:ext cx="5120640" cy="1273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2E7D8F"/>
                </a:solidFill>
              </a:rPr>
              <a:t>f(V)</a:t>
            </a:r>
            <a:r>
              <a:rPr lang="en-US" sz="1200" dirty="0">
                <a:solidFill>
                  <a:srgbClr val="1E293B"/>
                </a:solidFill>
              </a:rPr>
              <a:t>  traditional volume-based contribution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2E7D8F"/>
                </a:solidFill>
              </a:rPr>
              <a:t>g(X)</a:t>
            </a:r>
            <a:r>
              <a:rPr lang="en-US" sz="1200" dirty="0">
                <a:solidFill>
                  <a:srgbClr val="1E293B"/>
                </a:solidFill>
              </a:rPr>
              <a:t>  nonlinear function of socio-demographic / building factors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</a:rPr>
              <a:t>Captures complex correlations among inputs while preserving the well-understood role of building volume.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BF1E6"/>
          </a:solidFill>
          <a:ln w="12700">
            <a:solidFill>
              <a:srgbClr val="E8B7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28232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B  ·  FULLY GENERALIZED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18288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inputs, including building volume, enter a single nonlinear function.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12280" y="260604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2606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92239" y="4165964"/>
            <a:ext cx="512064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C2410C"/>
                </a:solidFill>
              </a:rPr>
              <a:t>g( · )</a:t>
            </a:r>
            <a:r>
              <a:rPr lang="en-US" sz="1200" dirty="0">
                <a:solidFill>
                  <a:srgbClr val="1E293B"/>
                </a:solidFill>
              </a:rPr>
              <a:t>  fully nonlinear (e.g. GAM, neural network)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</a:rPr>
              <a:t>Most flexible: captures interactions and correlations among all input variables.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C2410C"/>
                </a:solidFill>
              </a:rPr>
              <a:t>Trade-off: less interpretability, higher data requirements.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B9DB3A1-69DD-E355-A873-2E54D57A4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020" y="2804160"/>
            <a:ext cx="2616200" cy="609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D0DFBE9-8328-4484-8713-1610F301B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4563" y="2774485"/>
            <a:ext cx="2155993" cy="6484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MODELING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Fire-Induced Fatalities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· Exposure · Vulnerability  —  performance-based fire-safety design for consequence analysis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Performance-based fire-safety design: timelines, damage states, and occupant states for fatality estimation.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5F611620-E4C7-4C84-C7F0-2939BABAA449}"/>
              </a:ext>
            </a:extLst>
          </p:cNvPr>
          <p:cNvSpPr/>
          <p:nvPr/>
        </p:nvSpPr>
        <p:spPr>
          <a:xfrm>
            <a:off x="457200" y="1333240"/>
            <a:ext cx="5212080" cy="5149856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36AE7EDD-4BE5-7F58-478A-02D0A15A004E}"/>
              </a:ext>
            </a:extLst>
          </p:cNvPr>
          <p:cNvSpPr/>
          <p:nvPr/>
        </p:nvSpPr>
        <p:spPr>
          <a:xfrm>
            <a:off x="640080" y="1481328"/>
            <a:ext cx="4846320" cy="3626600"/>
          </a:xfrm>
          <a:prstGeom prst="roundRect">
            <a:avLst>
              <a:gd name="adj" fmla="val 2162"/>
            </a:avLst>
          </a:prstGeom>
          <a:solidFill>
            <a:srgbClr val="EEF3FA"/>
          </a:solidFill>
          <a:ln w="12700">
            <a:solidFill>
              <a:srgbClr val="B9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E2FED75A-D9EB-A7FE-7BD9-8E792CDABBD3}"/>
              </a:ext>
            </a:extLst>
          </p:cNvPr>
          <p:cNvSpPr/>
          <p:nvPr/>
        </p:nvSpPr>
        <p:spPr>
          <a:xfrm>
            <a:off x="777240" y="15627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1200" dirty="0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821AE170-9E61-6E5E-AA76-9B26179B5DBF}"/>
              </a:ext>
            </a:extLst>
          </p:cNvPr>
          <p:cNvSpPr/>
          <p:nvPr/>
        </p:nvSpPr>
        <p:spPr>
          <a:xfrm>
            <a:off x="822955" y="1989322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AE9ED91F-AD21-93C2-D9AA-5C2DF05578F8}"/>
              </a:ext>
            </a:extLst>
          </p:cNvPr>
          <p:cNvSpPr/>
          <p:nvPr/>
        </p:nvSpPr>
        <p:spPr>
          <a:xfrm>
            <a:off x="822955" y="1989322"/>
            <a:ext cx="2148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Building-level data</a:t>
            </a:r>
            <a:endParaRPr lang="en-US" sz="1200" dirty="0"/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08DEF8E0-452C-B5C5-18CE-9BECC6A2C571}"/>
              </a:ext>
            </a:extLst>
          </p:cNvPr>
          <p:cNvSpPr/>
          <p:nvPr/>
        </p:nvSpPr>
        <p:spPr>
          <a:xfrm>
            <a:off x="3154675" y="1989322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6823EB8F-6419-0060-FE3B-6431091220B6}"/>
              </a:ext>
            </a:extLst>
          </p:cNvPr>
          <p:cNvSpPr/>
          <p:nvPr/>
        </p:nvSpPr>
        <p:spPr>
          <a:xfrm>
            <a:off x="3154675" y="1989322"/>
            <a:ext cx="2148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Community-level statistical data</a:t>
            </a:r>
            <a:endParaRPr lang="en-US" sz="1200" dirty="0"/>
          </a:p>
        </p:txBody>
      </p:sp>
      <p:sp>
        <p:nvSpPr>
          <p:cNvPr id="57" name="Shape 15">
            <a:extLst>
              <a:ext uri="{FF2B5EF4-FFF2-40B4-BE49-F238E27FC236}">
                <a16:creationId xmlns:a16="http://schemas.microsoft.com/office/drawing/2014/main" id="{510737F7-D821-6153-27EF-D50BF4808310}"/>
              </a:ext>
            </a:extLst>
          </p:cNvPr>
          <p:cNvSpPr/>
          <p:nvPr/>
        </p:nvSpPr>
        <p:spPr>
          <a:xfrm>
            <a:off x="1691635" y="2720842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94C0E755-9635-512B-10F2-ACF1CD284D0D}"/>
              </a:ext>
            </a:extLst>
          </p:cNvPr>
          <p:cNvSpPr/>
          <p:nvPr/>
        </p:nvSpPr>
        <p:spPr>
          <a:xfrm>
            <a:off x="1691635" y="2720842"/>
            <a:ext cx="2743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Building-level generic model</a:t>
            </a:r>
            <a:endParaRPr lang="en-US" sz="1400" dirty="0"/>
          </a:p>
        </p:txBody>
      </p:sp>
      <p:sp>
        <p:nvSpPr>
          <p:cNvPr id="59" name="Shape 17">
            <a:extLst>
              <a:ext uri="{FF2B5EF4-FFF2-40B4-BE49-F238E27FC236}">
                <a16:creationId xmlns:a16="http://schemas.microsoft.com/office/drawing/2014/main" id="{02E7CB4F-F425-8859-FEAF-C7EA2DF81D8D}"/>
              </a:ext>
            </a:extLst>
          </p:cNvPr>
          <p:cNvSpPr/>
          <p:nvPr/>
        </p:nvSpPr>
        <p:spPr>
          <a:xfrm>
            <a:off x="1691635" y="3452362"/>
            <a:ext cx="2743200" cy="502920"/>
          </a:xfrm>
          <a:prstGeom prst="roundRect">
            <a:avLst>
              <a:gd name="adj" fmla="val 10909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B6498200-D07F-4183-FD81-7F31BA75C8AE}"/>
              </a:ext>
            </a:extLst>
          </p:cNvPr>
          <p:cNvSpPr/>
          <p:nvPr/>
        </p:nvSpPr>
        <p:spPr>
          <a:xfrm>
            <a:off x="1691635" y="3452362"/>
            <a:ext cx="2743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ignition</a:t>
            </a:r>
            <a:endParaRPr lang="en-US" sz="1200" dirty="0"/>
          </a:p>
        </p:txBody>
      </p:sp>
      <p:sp>
        <p:nvSpPr>
          <p:cNvPr id="61" name="Shape 21">
            <a:extLst>
              <a:ext uri="{FF2B5EF4-FFF2-40B4-BE49-F238E27FC236}">
                <a16:creationId xmlns:a16="http://schemas.microsoft.com/office/drawing/2014/main" id="{309958E5-8B2E-E159-5BD1-63352C571C50}"/>
              </a:ext>
            </a:extLst>
          </p:cNvPr>
          <p:cNvSpPr/>
          <p:nvPr/>
        </p:nvSpPr>
        <p:spPr>
          <a:xfrm>
            <a:off x="3063235" y="3269482"/>
            <a:ext cx="0" cy="182880"/>
          </a:xfrm>
          <a:prstGeom prst="line">
            <a:avLst/>
          </a:prstGeom>
          <a:noFill/>
          <a:ln w="12700">
            <a:solidFill>
              <a:srgbClr val="C241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22">
            <a:extLst>
              <a:ext uri="{FF2B5EF4-FFF2-40B4-BE49-F238E27FC236}">
                <a16:creationId xmlns:a16="http://schemas.microsoft.com/office/drawing/2014/main" id="{94C06A35-EF08-6752-5C71-3AEE9A29CCD9}"/>
              </a:ext>
            </a:extLst>
          </p:cNvPr>
          <p:cNvSpPr/>
          <p:nvPr/>
        </p:nvSpPr>
        <p:spPr>
          <a:xfrm>
            <a:off x="1691635" y="4160632"/>
            <a:ext cx="2743200" cy="502920"/>
          </a:xfrm>
          <a:prstGeom prst="roundRect">
            <a:avLst>
              <a:gd name="adj" fmla="val 10909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FF591C9A-CC28-5F61-D5A0-0245B2883C7B}"/>
              </a:ext>
            </a:extLst>
          </p:cNvPr>
          <p:cNvSpPr/>
          <p:nvPr/>
        </p:nvSpPr>
        <p:spPr>
          <a:xfrm>
            <a:off x="1691635" y="4160632"/>
            <a:ext cx="2743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state</a:t>
            </a:r>
            <a:endParaRPr lang="en-US" sz="1200" dirty="0"/>
          </a:p>
        </p:txBody>
      </p:sp>
      <p:sp>
        <p:nvSpPr>
          <p:cNvPr id="64" name="Shape 24">
            <a:extLst>
              <a:ext uri="{FF2B5EF4-FFF2-40B4-BE49-F238E27FC236}">
                <a16:creationId xmlns:a16="http://schemas.microsoft.com/office/drawing/2014/main" id="{C8849677-2525-D7D6-2061-9B49FD1FCF48}"/>
              </a:ext>
            </a:extLst>
          </p:cNvPr>
          <p:cNvSpPr/>
          <p:nvPr/>
        </p:nvSpPr>
        <p:spPr>
          <a:xfrm>
            <a:off x="3063235" y="3955282"/>
            <a:ext cx="0" cy="182880"/>
          </a:xfrm>
          <a:prstGeom prst="line">
            <a:avLst/>
          </a:prstGeom>
          <a:noFill/>
          <a:ln w="12700">
            <a:solidFill>
              <a:srgbClr val="C241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A072E27-9172-7FA9-E9AC-DF97D64EE86F}"/>
              </a:ext>
            </a:extLst>
          </p:cNvPr>
          <p:cNvSpPr/>
          <p:nvPr/>
        </p:nvSpPr>
        <p:spPr>
          <a:xfrm>
            <a:off x="640080" y="5265160"/>
            <a:ext cx="4846320" cy="1135640"/>
          </a:xfrm>
          <a:prstGeom prst="roundRect">
            <a:avLst>
              <a:gd name="adj" fmla="val 6400"/>
            </a:avLst>
          </a:prstGeom>
          <a:solidFill>
            <a:srgbClr val="F1ECE4"/>
          </a:solidFill>
          <a:ln w="12700">
            <a:solidFill>
              <a:srgbClr val="C9B7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26">
            <a:extLst>
              <a:ext uri="{FF2B5EF4-FFF2-40B4-BE49-F238E27FC236}">
                <a16:creationId xmlns:a16="http://schemas.microsoft.com/office/drawing/2014/main" id="{C5C2FA11-EDB6-9706-8197-3173988EF4EF}"/>
              </a:ext>
            </a:extLst>
          </p:cNvPr>
          <p:cNvSpPr/>
          <p:nvPr/>
        </p:nvSpPr>
        <p:spPr>
          <a:xfrm>
            <a:off x="777240" y="5338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1200" dirty="0"/>
          </a:p>
        </p:txBody>
      </p:sp>
      <p:sp>
        <p:nvSpPr>
          <p:cNvPr id="67" name="Shape 27">
            <a:extLst>
              <a:ext uri="{FF2B5EF4-FFF2-40B4-BE49-F238E27FC236}">
                <a16:creationId xmlns:a16="http://schemas.microsoft.com/office/drawing/2014/main" id="{F5E1C568-C269-894D-0064-3AFC9EA11358}"/>
              </a:ext>
            </a:extLst>
          </p:cNvPr>
          <p:cNvSpPr/>
          <p:nvPr/>
        </p:nvSpPr>
        <p:spPr>
          <a:xfrm>
            <a:off x="1737360" y="56766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28">
            <a:extLst>
              <a:ext uri="{FF2B5EF4-FFF2-40B4-BE49-F238E27FC236}">
                <a16:creationId xmlns:a16="http://schemas.microsoft.com/office/drawing/2014/main" id="{DE317CE6-D91D-A4FC-81D7-12E4AB689C90}"/>
              </a:ext>
            </a:extLst>
          </p:cNvPr>
          <p:cNvSpPr/>
          <p:nvPr/>
        </p:nvSpPr>
        <p:spPr>
          <a:xfrm>
            <a:off x="1737360" y="5676640"/>
            <a:ext cx="2743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Occupants</a:t>
            </a:r>
            <a:endParaRPr lang="en-US" sz="1100" dirty="0"/>
          </a:p>
        </p:txBody>
      </p:sp>
      <p:sp>
        <p:nvSpPr>
          <p:cNvPr id="69" name="Shape 29">
            <a:extLst>
              <a:ext uri="{FF2B5EF4-FFF2-40B4-BE49-F238E27FC236}">
                <a16:creationId xmlns:a16="http://schemas.microsoft.com/office/drawing/2014/main" id="{24409CF5-CFC9-205F-CFFD-04CEBA6B18F0}"/>
              </a:ext>
            </a:extLst>
          </p:cNvPr>
          <p:cNvSpPr/>
          <p:nvPr/>
        </p:nvSpPr>
        <p:spPr>
          <a:xfrm>
            <a:off x="5989320" y="1333240"/>
            <a:ext cx="5897880" cy="5149856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143FC7AD-DFC3-24EE-CCC5-E32B86095690}"/>
              </a:ext>
            </a:extLst>
          </p:cNvPr>
          <p:cNvSpPr/>
          <p:nvPr/>
        </p:nvSpPr>
        <p:spPr>
          <a:xfrm>
            <a:off x="6172200" y="1481328"/>
            <a:ext cx="5532120" cy="4919472"/>
          </a:xfrm>
          <a:prstGeom prst="roundRect">
            <a:avLst>
              <a:gd name="adj" fmla="val 1441"/>
            </a:avLst>
          </a:prstGeom>
          <a:solidFill>
            <a:srgbClr val="EAEFEF"/>
          </a:solidFill>
          <a:ln w="12700">
            <a:solidFill>
              <a:srgbClr val="9DB6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31">
            <a:extLst>
              <a:ext uri="{FF2B5EF4-FFF2-40B4-BE49-F238E27FC236}">
                <a16:creationId xmlns:a16="http://schemas.microsoft.com/office/drawing/2014/main" id="{132FE03D-270B-CB5B-642A-4F202198288A}"/>
              </a:ext>
            </a:extLst>
          </p:cNvPr>
          <p:cNvSpPr/>
          <p:nvPr/>
        </p:nvSpPr>
        <p:spPr>
          <a:xfrm>
            <a:off x="6309360" y="1559944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EA76128E-2833-FF1F-F54F-0DFE8188F341}"/>
              </a:ext>
            </a:extLst>
          </p:cNvPr>
          <p:cNvSpPr/>
          <p:nvPr/>
        </p:nvSpPr>
        <p:spPr>
          <a:xfrm>
            <a:off x="6583695" y="252154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97140062-450C-6832-3B30-A65D07FEDA3D}"/>
              </a:ext>
            </a:extLst>
          </p:cNvPr>
          <p:cNvSpPr/>
          <p:nvPr/>
        </p:nvSpPr>
        <p:spPr>
          <a:xfrm>
            <a:off x="6583695" y="2521540"/>
            <a:ext cx="2011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</a:t>
            </a:r>
            <a:endParaRPr lang="en-US" sz="1200" dirty="0"/>
          </a:p>
        </p:txBody>
      </p:sp>
      <p:sp>
        <p:nvSpPr>
          <p:cNvPr id="74" name="Shape 36">
            <a:extLst>
              <a:ext uri="{FF2B5EF4-FFF2-40B4-BE49-F238E27FC236}">
                <a16:creationId xmlns:a16="http://schemas.microsoft.com/office/drawing/2014/main" id="{D2D059A5-D7C6-0048-43C0-6A4E555770D3}"/>
              </a:ext>
            </a:extLst>
          </p:cNvPr>
          <p:cNvSpPr/>
          <p:nvPr/>
        </p:nvSpPr>
        <p:spPr>
          <a:xfrm>
            <a:off x="8961116" y="1787652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37">
            <a:extLst>
              <a:ext uri="{FF2B5EF4-FFF2-40B4-BE49-F238E27FC236}">
                <a16:creationId xmlns:a16="http://schemas.microsoft.com/office/drawing/2014/main" id="{1891D575-145C-FF09-605A-BB462759447A}"/>
              </a:ext>
            </a:extLst>
          </p:cNvPr>
          <p:cNvSpPr/>
          <p:nvPr/>
        </p:nvSpPr>
        <p:spPr>
          <a:xfrm>
            <a:off x="8961116" y="1787652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200" dirty="0"/>
          </a:p>
        </p:txBody>
      </p:sp>
      <p:sp>
        <p:nvSpPr>
          <p:cNvPr id="76" name="Shape 38">
            <a:extLst>
              <a:ext uri="{FF2B5EF4-FFF2-40B4-BE49-F238E27FC236}">
                <a16:creationId xmlns:a16="http://schemas.microsoft.com/office/drawing/2014/main" id="{B675A3AE-19C0-A6C4-D181-51FE5BD8C631}"/>
              </a:ext>
            </a:extLst>
          </p:cNvPr>
          <p:cNvSpPr/>
          <p:nvPr/>
        </p:nvSpPr>
        <p:spPr>
          <a:xfrm>
            <a:off x="10241276" y="1787652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80FA5BD4-4FF0-11F9-802D-6C5BB16B3E47}"/>
              </a:ext>
            </a:extLst>
          </p:cNvPr>
          <p:cNvSpPr/>
          <p:nvPr/>
        </p:nvSpPr>
        <p:spPr>
          <a:xfrm>
            <a:off x="10241276" y="1787652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900" dirty="0"/>
          </a:p>
        </p:txBody>
      </p:sp>
      <p:sp>
        <p:nvSpPr>
          <p:cNvPr id="78" name="Shape 40">
            <a:extLst>
              <a:ext uri="{FF2B5EF4-FFF2-40B4-BE49-F238E27FC236}">
                <a16:creationId xmlns:a16="http://schemas.microsoft.com/office/drawing/2014/main" id="{E6E4E6F6-E217-AEEE-60E1-CE9256AD00A7}"/>
              </a:ext>
            </a:extLst>
          </p:cNvPr>
          <p:cNvSpPr/>
          <p:nvPr/>
        </p:nvSpPr>
        <p:spPr>
          <a:xfrm>
            <a:off x="9189716" y="2519172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41">
            <a:extLst>
              <a:ext uri="{FF2B5EF4-FFF2-40B4-BE49-F238E27FC236}">
                <a16:creationId xmlns:a16="http://schemas.microsoft.com/office/drawing/2014/main" id="{8AB7E7EF-42FA-4AE8-5871-E30195C11884}"/>
              </a:ext>
            </a:extLst>
          </p:cNvPr>
          <p:cNvSpPr/>
          <p:nvPr/>
        </p:nvSpPr>
        <p:spPr>
          <a:xfrm>
            <a:off x="9189716" y="2519172"/>
            <a:ext cx="2011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RSET</a:t>
            </a:r>
            <a:endParaRPr lang="en-US" sz="1200" dirty="0"/>
          </a:p>
        </p:txBody>
      </p:sp>
      <p:sp>
        <p:nvSpPr>
          <p:cNvPr id="80" name="Shape 42">
            <a:extLst>
              <a:ext uri="{FF2B5EF4-FFF2-40B4-BE49-F238E27FC236}">
                <a16:creationId xmlns:a16="http://schemas.microsoft.com/office/drawing/2014/main" id="{FE0F669B-652A-825A-5D64-9A305731E07B}"/>
              </a:ext>
            </a:extLst>
          </p:cNvPr>
          <p:cNvSpPr/>
          <p:nvPr/>
        </p:nvSpPr>
        <p:spPr>
          <a:xfrm>
            <a:off x="9052560" y="5205500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1E3A67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43">
            <a:extLst>
              <a:ext uri="{FF2B5EF4-FFF2-40B4-BE49-F238E27FC236}">
                <a16:creationId xmlns:a16="http://schemas.microsoft.com/office/drawing/2014/main" id="{F4A5983E-9AB4-6D92-DAF3-070CB1E9BF25}"/>
              </a:ext>
            </a:extLst>
          </p:cNvPr>
          <p:cNvSpPr/>
          <p:nvPr/>
        </p:nvSpPr>
        <p:spPr>
          <a:xfrm>
            <a:off x="9052560" y="5205500"/>
            <a:ext cx="2331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fighting</a:t>
            </a:r>
            <a:endParaRPr lang="en-US" sz="1200" dirty="0"/>
          </a:p>
        </p:txBody>
      </p:sp>
      <p:sp>
        <p:nvSpPr>
          <p:cNvPr id="82" name="Shape 44">
            <a:extLst>
              <a:ext uri="{FF2B5EF4-FFF2-40B4-BE49-F238E27FC236}">
                <a16:creationId xmlns:a16="http://schemas.microsoft.com/office/drawing/2014/main" id="{B1C9F180-B8D3-9B31-17EF-96C3D4D12CB6}"/>
              </a:ext>
            </a:extLst>
          </p:cNvPr>
          <p:cNvSpPr/>
          <p:nvPr/>
        </p:nvSpPr>
        <p:spPr>
          <a:xfrm>
            <a:off x="7566660" y="3715944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C00000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45">
            <a:extLst>
              <a:ext uri="{FF2B5EF4-FFF2-40B4-BE49-F238E27FC236}">
                <a16:creationId xmlns:a16="http://schemas.microsoft.com/office/drawing/2014/main" id="{F07DB11A-8E8E-3784-296D-DD12E886B609}"/>
              </a:ext>
            </a:extLst>
          </p:cNvPr>
          <p:cNvSpPr/>
          <p:nvPr/>
        </p:nvSpPr>
        <p:spPr>
          <a:xfrm>
            <a:off x="7566660" y="3715944"/>
            <a:ext cx="2468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fatalities</a:t>
            </a:r>
            <a:endParaRPr lang="en-US" sz="1400" dirty="0"/>
          </a:p>
        </p:txBody>
      </p:sp>
      <p:sp>
        <p:nvSpPr>
          <p:cNvPr id="84" name="Shape 47">
            <a:extLst>
              <a:ext uri="{FF2B5EF4-FFF2-40B4-BE49-F238E27FC236}">
                <a16:creationId xmlns:a16="http://schemas.microsoft.com/office/drawing/2014/main" id="{FC19F4A8-123E-8EB5-74A4-5C6445E094B6}"/>
              </a:ext>
            </a:extLst>
          </p:cNvPr>
          <p:cNvSpPr/>
          <p:nvPr/>
        </p:nvSpPr>
        <p:spPr>
          <a:xfrm>
            <a:off x="9555476" y="2290572"/>
            <a:ext cx="320038" cy="228600"/>
          </a:xfrm>
          <a:prstGeom prst="line">
            <a:avLst/>
          </a:prstGeom>
          <a:noFill/>
          <a:ln w="12700">
            <a:solidFill>
              <a:srgbClr val="1E3A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48">
            <a:extLst>
              <a:ext uri="{FF2B5EF4-FFF2-40B4-BE49-F238E27FC236}">
                <a16:creationId xmlns:a16="http://schemas.microsoft.com/office/drawing/2014/main" id="{8333FDAD-D499-E00C-6CF2-8BCE36F3C61A}"/>
              </a:ext>
            </a:extLst>
          </p:cNvPr>
          <p:cNvSpPr/>
          <p:nvPr/>
        </p:nvSpPr>
        <p:spPr>
          <a:xfrm flipH="1">
            <a:off x="10515596" y="2290572"/>
            <a:ext cx="320040" cy="228600"/>
          </a:xfrm>
          <a:prstGeom prst="line">
            <a:avLst/>
          </a:prstGeom>
          <a:noFill/>
          <a:ln w="12700">
            <a:solidFill>
              <a:srgbClr val="1E3A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49">
            <a:extLst>
              <a:ext uri="{FF2B5EF4-FFF2-40B4-BE49-F238E27FC236}">
                <a16:creationId xmlns:a16="http://schemas.microsoft.com/office/drawing/2014/main" id="{40C954CC-0AB0-2EF5-79AD-DD1AB69D4979}"/>
              </a:ext>
            </a:extLst>
          </p:cNvPr>
          <p:cNvSpPr/>
          <p:nvPr/>
        </p:nvSpPr>
        <p:spPr>
          <a:xfrm>
            <a:off x="7566660" y="3022092"/>
            <a:ext cx="937256" cy="693852"/>
          </a:xfrm>
          <a:prstGeom prst="line">
            <a:avLst/>
          </a:prstGeom>
          <a:noFill/>
          <a:ln w="15875">
            <a:solidFill>
              <a:srgbClr val="1E3A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52">
            <a:extLst>
              <a:ext uri="{FF2B5EF4-FFF2-40B4-BE49-F238E27FC236}">
                <a16:creationId xmlns:a16="http://schemas.microsoft.com/office/drawing/2014/main" id="{263B6BD5-C651-914F-D568-E8A984C5BEAC}"/>
              </a:ext>
            </a:extLst>
          </p:cNvPr>
          <p:cNvSpPr/>
          <p:nvPr/>
        </p:nvSpPr>
        <p:spPr>
          <a:xfrm flipV="1">
            <a:off x="4434835" y="2750560"/>
            <a:ext cx="2148841" cy="164592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53">
            <a:extLst>
              <a:ext uri="{FF2B5EF4-FFF2-40B4-BE49-F238E27FC236}">
                <a16:creationId xmlns:a16="http://schemas.microsoft.com/office/drawing/2014/main" id="{1157E299-0119-CAFD-3ED0-B61F9E49591C}"/>
              </a:ext>
            </a:extLst>
          </p:cNvPr>
          <p:cNvSpPr/>
          <p:nvPr/>
        </p:nvSpPr>
        <p:spPr>
          <a:xfrm flipV="1">
            <a:off x="4480560" y="4396480"/>
            <a:ext cx="4021783" cy="1531620"/>
          </a:xfrm>
          <a:prstGeom prst="line">
            <a:avLst/>
          </a:prstGeom>
          <a:noFill/>
          <a:ln w="19050">
            <a:solidFill>
              <a:srgbClr val="2E7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19">
            <a:extLst>
              <a:ext uri="{FF2B5EF4-FFF2-40B4-BE49-F238E27FC236}">
                <a16:creationId xmlns:a16="http://schemas.microsoft.com/office/drawing/2014/main" id="{08C0DBDC-C3E8-BD36-F266-F099C92AA7CF}"/>
              </a:ext>
            </a:extLst>
          </p:cNvPr>
          <p:cNvSpPr/>
          <p:nvPr/>
        </p:nvSpPr>
        <p:spPr>
          <a:xfrm>
            <a:off x="1897375" y="2469382"/>
            <a:ext cx="548625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20">
            <a:extLst>
              <a:ext uri="{FF2B5EF4-FFF2-40B4-BE49-F238E27FC236}">
                <a16:creationId xmlns:a16="http://schemas.microsoft.com/office/drawing/2014/main" id="{0785D6E0-A3AB-E981-92B0-62095B3F6EFC}"/>
              </a:ext>
            </a:extLst>
          </p:cNvPr>
          <p:cNvSpPr/>
          <p:nvPr/>
        </p:nvSpPr>
        <p:spPr>
          <a:xfrm flipH="1">
            <a:off x="3703295" y="2492242"/>
            <a:ext cx="525800" cy="2057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49">
            <a:extLst>
              <a:ext uri="{FF2B5EF4-FFF2-40B4-BE49-F238E27FC236}">
                <a16:creationId xmlns:a16="http://schemas.microsoft.com/office/drawing/2014/main" id="{816A1500-F9EE-A93D-9740-22D3380D0FFA}"/>
              </a:ext>
            </a:extLst>
          </p:cNvPr>
          <p:cNvSpPr/>
          <p:nvPr/>
        </p:nvSpPr>
        <p:spPr>
          <a:xfrm flipH="1">
            <a:off x="9212577" y="3022092"/>
            <a:ext cx="937258" cy="725944"/>
          </a:xfrm>
          <a:prstGeom prst="line">
            <a:avLst/>
          </a:prstGeom>
          <a:noFill/>
          <a:ln w="15875">
            <a:solidFill>
              <a:srgbClr val="1E3A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53">
            <a:extLst>
              <a:ext uri="{FF2B5EF4-FFF2-40B4-BE49-F238E27FC236}">
                <a16:creationId xmlns:a16="http://schemas.microsoft.com/office/drawing/2014/main" id="{E6583433-1E1C-B8D4-942E-844873D1489D}"/>
              </a:ext>
            </a:extLst>
          </p:cNvPr>
          <p:cNvSpPr/>
          <p:nvPr/>
        </p:nvSpPr>
        <p:spPr>
          <a:xfrm flipH="1" flipV="1">
            <a:off x="9212576" y="4396480"/>
            <a:ext cx="1028699" cy="809020"/>
          </a:xfrm>
          <a:prstGeom prst="line">
            <a:avLst/>
          </a:prstGeom>
          <a:noFill/>
          <a:ln w="19050">
            <a:solidFill>
              <a:srgbClr val="1E3A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BCEB8CB-FF83-4400-FE9F-9EDC7BFCAB4E}"/>
              </a:ext>
            </a:extLst>
          </p:cNvPr>
          <p:cNvGrpSpPr/>
          <p:nvPr/>
        </p:nvGrpSpPr>
        <p:grpSpPr>
          <a:xfrm>
            <a:off x="4823456" y="3429000"/>
            <a:ext cx="1234440" cy="384048"/>
            <a:chOff x="6766560" y="356616"/>
            <a:chExt cx="1234440" cy="384048"/>
          </a:xfrm>
        </p:grpSpPr>
        <p:sp>
          <p:nvSpPr>
            <p:cNvPr id="94" name="Shape 30">
              <a:extLst>
                <a:ext uri="{FF2B5EF4-FFF2-40B4-BE49-F238E27FC236}">
                  <a16:creationId xmlns:a16="http://schemas.microsoft.com/office/drawing/2014/main" id="{24F97E24-5350-DA23-4CA6-ED064C2CBE34}"/>
                </a:ext>
              </a:extLst>
            </p:cNvPr>
            <p:cNvSpPr/>
            <p:nvPr/>
          </p:nvSpPr>
          <p:spPr>
            <a:xfrm>
              <a:off x="6766560" y="356616"/>
              <a:ext cx="1234440" cy="38404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2700">
              <a:solidFill>
                <a:srgbClr val="C00000"/>
              </a:solidFill>
              <a:prstDash val="solid"/>
            </a:ln>
          </p:spPr>
          <p:txBody>
            <a:bodyPr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95" name="Text 31">
              <a:extLst>
                <a:ext uri="{FF2B5EF4-FFF2-40B4-BE49-F238E27FC236}">
                  <a16:creationId xmlns:a16="http://schemas.microsoft.com/office/drawing/2014/main" id="{17F32095-4300-9065-8BB9-D769011ECB05}"/>
                </a:ext>
              </a:extLst>
            </p:cNvPr>
            <p:cNvSpPr/>
            <p:nvPr/>
          </p:nvSpPr>
          <p:spPr>
            <a:xfrm>
              <a:off x="6766560" y="356616"/>
              <a:ext cx="1234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i="1" dirty="0">
                  <a:solidFill>
                    <a:srgbClr val="C00000"/>
                  </a:solidFill>
                  <a:latin typeface="Calibri" pitchFamily="34" charset="0"/>
                  <a:cs typeface="Calibri" pitchFamily="34" charset="-120"/>
                </a:rPr>
                <a:t>Major</a:t>
              </a:r>
              <a:endParaRPr lang="en-US" sz="900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DEEP-DIVE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 / RSET — Inputs and Sub-Timeline Uncertainty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sub-time is itself uncertain; ASET and RSET combine to determine fatality probability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06434"/>
            <a:ext cx="5577840" cy="3246120"/>
          </a:xfrm>
          <a:prstGeom prst="roundRect">
            <a:avLst>
              <a:gd name="adj" fmla="val 2254"/>
            </a:avLst>
          </a:prstGeom>
          <a:solidFill>
            <a:srgbClr val="EEF3FA"/>
          </a:solidFill>
          <a:ln w="12700">
            <a:solidFill>
              <a:srgbClr val="B9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 — Available Safe Egress Time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577840" cy="3246120"/>
          </a:xfrm>
          <a:prstGeom prst="roundRect">
            <a:avLst>
              <a:gd name="adj" fmla="val 2254"/>
            </a:avLst>
          </a:prstGeom>
          <a:solidFill>
            <a:srgbClr val="EAEFEF"/>
          </a:solidFill>
          <a:ln w="12700">
            <a:solidFill>
              <a:srgbClr val="9DB6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28232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RSET — Required Safe Egress 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ignition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56232" y="5065776"/>
            <a:ext cx="914400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56232" y="4983480"/>
            <a:ext cx="0" cy="18288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1" y="51572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Ignition (t = 0)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0" y="516636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EEF3FA"/>
          </a:solidFill>
          <a:ln w="12700">
            <a:solidFill>
              <a:srgbClr val="B9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11680" y="51846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5486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react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11880" y="516636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EEF3FA"/>
          </a:solidFill>
          <a:ln w="12700">
            <a:solidFill>
              <a:srgbClr val="B9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11880" y="51846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11880" y="5486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516636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EAEFEF"/>
          </a:solidFill>
          <a:ln w="12700">
            <a:solidFill>
              <a:srgbClr val="9DB6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0" y="51846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Pre-movement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5486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Decide, prepare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95160" y="516636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EAEFEF"/>
          </a:solidFill>
          <a:ln w="12700">
            <a:solidFill>
              <a:srgbClr val="9DB6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95160" y="51846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5486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to exit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503920" y="4800600"/>
            <a:ext cx="0" cy="1188720"/>
          </a:xfrm>
          <a:prstGeom prst="line">
            <a:avLst/>
          </a:prstGeom>
          <a:noFill/>
          <a:ln w="19050">
            <a:solidFill>
              <a:srgbClr val="2E7D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65592" y="6016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91272" y="62453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occupant out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601200" y="4800600"/>
            <a:ext cx="0" cy="1188720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35440" y="6016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98280" y="62453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24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Untenability</a:t>
            </a:r>
            <a:endParaRPr lang="en-US" sz="900" dirty="0">
              <a:solidFill>
                <a:srgbClr val="C2410B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Fatality occurs when RSET &gt; ASET.</a:t>
            </a:r>
            <a:endParaRPr lang="en-US" sz="11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302E06F8-E940-90E9-561C-5CE9D0D626EF}"/>
              </a:ext>
            </a:extLst>
          </p:cNvPr>
          <p:cNvSpPr/>
          <p:nvPr/>
        </p:nvSpPr>
        <p:spPr>
          <a:xfrm>
            <a:off x="621792" y="1756956"/>
            <a:ext cx="52120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68"/>
                </a:solidFill>
              </a:rPr>
              <a:t>Definition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Time from ignition until conditions become untenable for occupants.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68"/>
                </a:solidFill>
              </a:rPr>
              <a:t>Drivers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Fire-growth curve (slow / medium / fast / ultra-fast), compartment geometry, ventilation, and the chosen untenability criterion.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68"/>
                </a:solidFill>
              </a:rPr>
              <a:t>Inputs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Fire-growth rate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Peak heat-release rate (HRR)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Ventilation conditions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Compartment volume</a:t>
            </a:r>
            <a:endParaRPr lang="en-US" sz="140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584B1891-89B7-F095-46D5-7E5A2E1ED567}"/>
              </a:ext>
            </a:extLst>
          </p:cNvPr>
          <p:cNvSpPr/>
          <p:nvPr/>
        </p:nvSpPr>
        <p:spPr>
          <a:xfrm>
            <a:off x="6473952" y="187452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8F"/>
                </a:solidFill>
              </a:rPr>
              <a:t>Definition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Detection + alarm + pre-movement (reaction) + movement time required for occupants to evacuate.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8F"/>
                </a:solidFill>
              </a:rPr>
              <a:t>Drivers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i="1" u="sng" dirty="0">
                <a:solidFill>
                  <a:srgbClr val="1E293B"/>
                </a:solidFill>
              </a:rPr>
              <a:t>Pre-movement</a:t>
            </a:r>
            <a:r>
              <a:rPr lang="en-US" sz="1200" dirty="0">
                <a:solidFill>
                  <a:srgbClr val="1E293B"/>
                </a:solidFill>
              </a:rPr>
              <a:t> varies from under a minute (alert workers) to many minutes (sleeping occupants, mobility-limited, or those attempting to fight the fire).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i="1" u="sng" dirty="0">
                <a:solidFill>
                  <a:srgbClr val="1E293B"/>
                </a:solidFill>
              </a:rPr>
              <a:t>Movement</a:t>
            </a:r>
            <a:r>
              <a:rPr lang="en-US" sz="1200" dirty="0">
                <a:solidFill>
                  <a:srgbClr val="1E293B"/>
                </a:solidFill>
              </a:rPr>
              <a:t> depends on geometry, exit width, density, and walking speed.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8F"/>
                </a:solidFill>
              </a:rPr>
              <a:t>Inputs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Occupant population (age, mobility, familiarity)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Pre-movement time distribution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Exit availability and geometry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Alarm reliability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UNCERTAINTY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Uncertainty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inputs for the model; ASET and RSET each contribute consequence-side uncertainty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F5F7FA"/>
          </a:solidFill>
          <a:ln w="12700">
            <a:solidFill>
              <a:srgbClr val="D1D9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21792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4960" y="1600200"/>
            <a:ext cx="457200" cy="457200"/>
          </a:xfrm>
          <a:prstGeom prst="ellipse">
            <a:avLst/>
          </a:prstGeom>
          <a:solidFill>
            <a:srgbClr val="1F3A6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5394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</a:rPr>
              <a:t>Parameters uncertainty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4748B"/>
                </a:solidFill>
              </a:rPr>
              <a:t>uncertainty in fitted coefficients (β, σ²) and prior choices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</a:rPr>
              <a:t>Model-structure uncertainty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4748B"/>
                </a:solidFill>
              </a:rPr>
              <a:t>wrong functional form, omitted variables, residual errors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F5F7FA"/>
          </a:solidFill>
          <a:ln w="12700">
            <a:solidFill>
              <a:srgbClr val="D1D9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428232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201400" y="1600200"/>
            <a:ext cx="457200" cy="457200"/>
          </a:xfrm>
          <a:prstGeom prst="ellipse">
            <a:avLst/>
          </a:prstGeom>
          <a:solidFill>
            <a:srgbClr val="2E7D8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12014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18745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</a:rPr>
              <a:t>Statistical-level inputs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4748B"/>
                </a:solidFill>
              </a:rPr>
              <a:t>income, education, housing age reported at tract / census level — not available per individual building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EEF3FA"/>
          </a:solidFill>
          <a:ln w="12700">
            <a:solidFill>
              <a:srgbClr val="B9CCE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21792" y="4160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analysis  ·  ASET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4960" y="4251960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5394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452628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Ignition location &amp; initial fuel load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Heat-release rate · Fire-growth rate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Flashover probability and timing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Ventilation conditions </a:t>
            </a:r>
            <a:r>
              <a:rPr lang="en-US" sz="1400" dirty="0"/>
              <a:t>(doors/windows open or closed?)</a:t>
            </a: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Suppression activation time &amp; effectiveness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Zone-model uncertainty</a:t>
            </a: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CFD model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406908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EAEFEF"/>
          </a:solidFill>
          <a:ln w="12700">
            <a:solidFill>
              <a:srgbClr val="9DB6B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428232" y="4160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analysis  ·  RSET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201400" y="4251960"/>
            <a:ext cx="457200" cy="457200"/>
          </a:xfrm>
          <a:prstGeom prst="ellipse">
            <a:avLst/>
          </a:prstGeom>
          <a:solidFill>
            <a:srgbClr val="2E7D8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112014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37960" y="452628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</a:rPr>
              <a:t>Each sub-time is a random variable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64748B"/>
                </a:solidFill>
              </a:rPr>
              <a:t>detection · alarm · pre-movement · movement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</a:rPr>
              <a:t>Population heterogeneity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64748B"/>
                </a:solidFill>
              </a:rPr>
              <a:t>age, mobility, familiarity vary across the occupant pool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</a:rPr>
              <a:t>Behavioral uncertainty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64748B"/>
                </a:solidFill>
              </a:rPr>
              <a:t>decisions under stress, mis-perceptions, panic, group dynamics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300">
                <a:solidFill>
                  <a:srgbClr val="C2410C"/>
                </a:solidFill>
                <a:latin typeface="Calibri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 dirty="0">
                <a:solidFill>
                  <a:srgbClr val="64748B"/>
                </a:solidFill>
                <a:latin typeface="Calibri"/>
              </a:rPr>
              <a:t>A generic probabilistic model connecting occurrence and consequence for building-level fire-risk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4552" cy="713232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158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35435"/>
            <a:ext cx="109728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dirty="0">
                <a:solidFill>
                  <a:srgbClr val="C2410C"/>
                </a:solidFill>
                <a:latin typeface="Calibri"/>
              </a:rPr>
              <a:t>Goal   </a:t>
            </a:r>
            <a:r>
              <a:rPr b="0" i="0" dirty="0">
                <a:solidFill>
                  <a:srgbClr val="C2410C"/>
                </a:solidFill>
                <a:latin typeface="Calibri"/>
              </a:rPr>
              <a:t>·  </a:t>
            </a:r>
            <a:r>
              <a:rPr sz="1600" b="0" i="0" dirty="0">
                <a:solidFill>
                  <a:srgbClr val="1E293B"/>
                </a:solidFill>
                <a:latin typeface="Calibri"/>
              </a:rPr>
              <a:t>A </a:t>
            </a:r>
            <a:r>
              <a:rPr sz="1600" b="1" i="0" dirty="0">
                <a:solidFill>
                  <a:srgbClr val="1E293B"/>
                </a:solidFill>
                <a:latin typeface="Calibri"/>
              </a:rPr>
              <a:t>generic probabilistic model</a:t>
            </a:r>
            <a:r>
              <a:rPr sz="1600" b="0" i="0" dirty="0">
                <a:solidFill>
                  <a:srgbClr val="1E293B"/>
                </a:solidFill>
                <a:latin typeface="Calibri"/>
              </a:rPr>
              <a:t> connecting </a:t>
            </a:r>
            <a:r>
              <a:rPr sz="1600" b="1" i="0" dirty="0">
                <a:solidFill>
                  <a:srgbClr val="1E293B"/>
                </a:solidFill>
                <a:latin typeface="Calibri"/>
              </a:rPr>
              <a:t>occurrence </a:t>
            </a:r>
            <a:r>
              <a:rPr sz="1600" b="0" i="0" dirty="0">
                <a:solidFill>
                  <a:srgbClr val="1E293B"/>
                </a:solidFill>
                <a:latin typeface="Calibri"/>
              </a:rPr>
              <a:t>and </a:t>
            </a:r>
            <a:r>
              <a:rPr sz="1600" b="1" i="0" dirty="0">
                <a:solidFill>
                  <a:srgbClr val="1E293B"/>
                </a:solidFill>
                <a:latin typeface="Calibri"/>
              </a:rPr>
              <a:t>consequence</a:t>
            </a:r>
            <a:r>
              <a:rPr sz="1600" b="0" i="0" dirty="0">
                <a:solidFill>
                  <a:srgbClr val="1E293B"/>
                </a:solidFill>
                <a:latin typeface="Calibri"/>
              </a:rPr>
              <a:t> for building-level fire-risk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5577840" cy="201168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 w="12700">
            <a:solidFill>
              <a:srgbClr val="B9C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468879"/>
            <a:ext cx="51206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3A68"/>
                </a:solidFill>
                <a:latin typeface="Calibri"/>
              </a:rPr>
              <a:t>Why  probabilistic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98648"/>
            <a:ext cx="914400" cy="27432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044952"/>
            <a:ext cx="512064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0" i="0" dirty="0">
                <a:solidFill>
                  <a:srgbClr val="1E293B"/>
                </a:solidFill>
                <a:latin typeface="Calibri"/>
              </a:rPr>
              <a:t>F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ire-risk analysis exposes uncertainty explicitly</a:t>
            </a:r>
            <a:r>
              <a:rPr lang="en-US" sz="1400" dirty="0">
                <a:solidFill>
                  <a:srgbClr val="1E293B"/>
                </a:solidFill>
                <a:latin typeface="Calibri"/>
              </a:rPr>
              <a:t>; 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instead of a</a:t>
            </a:r>
            <a:r>
              <a:rPr lang="en-US" sz="14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conservative deterministic estimate, we rep</a:t>
            </a:r>
            <a:r>
              <a:rPr lang="en-US" sz="1400" b="0" i="0" dirty="0">
                <a:solidFill>
                  <a:srgbClr val="1E293B"/>
                </a:solidFill>
                <a:latin typeface="Calibri"/>
              </a:rPr>
              <a:t>ort what we don’t know and make better decision-making under risk with the 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distribution of possible outcomes.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31720"/>
            <a:ext cx="5577840" cy="201168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12700">
            <a:solidFill>
              <a:srgbClr val="E8B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79"/>
            <a:ext cx="51206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C2410C"/>
                </a:solidFill>
                <a:latin typeface="Calibri"/>
              </a:rPr>
              <a:t>Why  building-level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2898648"/>
            <a:ext cx="914400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044952"/>
            <a:ext cx="51206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E293B"/>
                </a:solidFill>
                <a:latin typeface="Calibri"/>
              </a:rPr>
              <a:t>Building-level models capture fine-grained </a:t>
            </a:r>
            <a:r>
              <a:rPr lang="en-US" sz="1400" b="0" i="0" dirty="0">
                <a:solidFill>
                  <a:srgbClr val="1E293B"/>
                </a:solidFill>
                <a:latin typeface="Calibri"/>
              </a:rPr>
              <a:t>building 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and occupant detail.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26280"/>
            <a:ext cx="5577840" cy="2011680"/>
          </a:xfrm>
          <a:prstGeom prst="roundRect">
            <a:avLst>
              <a:gd name="adj" fmla="val 3000"/>
            </a:avLst>
          </a:prstGeom>
          <a:solidFill>
            <a:srgbClr val="EAEFEF"/>
          </a:solidFill>
          <a:ln w="12700">
            <a:solidFill>
              <a:srgbClr val="9DB6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663440"/>
            <a:ext cx="51206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2E7D8F"/>
                </a:solidFill>
                <a:latin typeface="Calibri"/>
              </a:rPr>
              <a:t>Why  Bayesian networks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093208"/>
            <a:ext cx="914400" cy="27432"/>
          </a:xfrm>
          <a:prstGeom prst="rect">
            <a:avLst/>
          </a:prstGeom>
          <a:solidFill>
            <a:srgbClr val="2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239512"/>
            <a:ext cx="512064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A graphical model encodes the conditional dependence structure among key factors; expert knowledge (and/or data) supplies the conditional probability tables; the DAG makes the inference logic intuitive.</a:t>
            </a:r>
            <a:endParaRPr sz="14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4526280"/>
            <a:ext cx="5577840" cy="2011680"/>
          </a:xfrm>
          <a:prstGeom prst="roundRect">
            <a:avLst>
              <a:gd name="adj" fmla="val 3000"/>
            </a:avLst>
          </a:prstGeom>
          <a:solidFill>
            <a:srgbClr val="E7F0E8"/>
          </a:solidFill>
          <a:ln w="12700">
            <a:solidFill>
              <a:srgbClr val="AFC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4663440"/>
            <a:ext cx="51206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3F7D58"/>
                </a:solidFill>
                <a:latin typeface="Calibri"/>
              </a:rPr>
              <a:t>Then  what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5093208"/>
            <a:ext cx="914400" cy="27432"/>
          </a:xfrm>
          <a:prstGeom prst="rect">
            <a:avLst/>
          </a:prstGeom>
          <a:solidFill>
            <a:srgbClr val="3F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5239512"/>
            <a:ext cx="512064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E293B"/>
                </a:solidFill>
                <a:latin typeface="Calibri"/>
              </a:rPr>
              <a:t>Use the model to support decision-makers and policy-makers: reduce community-</a:t>
            </a:r>
            <a:r>
              <a:rPr lang="en-US" sz="1400" b="0" i="0" dirty="0">
                <a:solidFill>
                  <a:srgbClr val="1E293B"/>
                </a:solidFill>
                <a:latin typeface="Calibri"/>
              </a:rPr>
              <a:t>level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 fire </a:t>
            </a:r>
            <a:r>
              <a:rPr lang="en-US" sz="1400" b="0" i="0" dirty="0">
                <a:solidFill>
                  <a:srgbClr val="1E293B"/>
                </a:solidFill>
                <a:latin typeface="Calibri"/>
              </a:rPr>
              <a:t>risk and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 identify the most influential factors for each individual building.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415778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300">
                <a:solidFill>
                  <a:srgbClr val="C2410C"/>
                </a:solidFill>
                <a:latin typeface="Calibri"/>
              </a:rPr>
              <a:t>DECISION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9383"/>
            <a:ext cx="1127455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1E293B"/>
                </a:solidFill>
                <a:latin typeface="Calibri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Risk-reduction and urban-planning decisions identified in the literature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6674"/>
            <a:ext cx="5577840" cy="2551912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 w="12700">
            <a:solidFill>
              <a:srgbClr val="B9C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96674"/>
            <a:ext cx="5577840" cy="385652"/>
          </a:xfrm>
          <a:prstGeom prst="roundRect">
            <a:avLst>
              <a:gd name="adj" fmla="val 3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55756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400" dirty="0">
                <a:solidFill>
                  <a:srgbClr val="FFFFFF"/>
                </a:solidFill>
                <a:latin typeface="Calibri"/>
              </a:rPr>
              <a:t>RISK 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227407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1">
                <a:solidFill>
                  <a:srgbClr val="9FB7DA"/>
                </a:solidFill>
                <a:latin typeface="Calibri"/>
              </a:rPr>
              <a:t>Single building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68574"/>
            <a:ext cx="5120640" cy="79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05257" y="1982876"/>
            <a:ext cx="182880" cy="18288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1868576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Calibri"/>
              </a:rPr>
              <a:t>Intervention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77536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 dirty="0" err="1">
                <a:solidFill>
                  <a:srgbClr val="64748B"/>
                </a:solidFill>
                <a:latin typeface="Calibri"/>
              </a:rPr>
              <a:t>Matellini</a:t>
            </a:r>
            <a:r>
              <a:rPr sz="1100" b="0" i="1" dirty="0">
                <a:solidFill>
                  <a:srgbClr val="64748B"/>
                </a:solidFill>
                <a:latin typeface="Calibri"/>
              </a:rPr>
              <a:t> et al. (2018) · Hao et al. (2023)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2976"/>
            <a:ext cx="5120640" cy="82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2988716"/>
            <a:ext cx="182880" cy="182880"/>
          </a:xfrm>
          <a:prstGeom prst="ellipse">
            <a:avLst/>
          </a:prstGeom>
          <a:solidFill>
            <a:srgbClr val="2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2874416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Calibri"/>
              </a:rPr>
              <a:t>Performance-based structural fire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31366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 dirty="0" err="1">
                <a:solidFill>
                  <a:srgbClr val="64748B"/>
                </a:solidFill>
                <a:latin typeface="Calibri"/>
              </a:rPr>
              <a:t>Hasofer</a:t>
            </a:r>
            <a:r>
              <a:rPr sz="1100" b="0" i="1" dirty="0">
                <a:solidFill>
                  <a:srgbClr val="64748B"/>
                </a:solidFill>
                <a:latin typeface="Calibri"/>
              </a:rPr>
              <a:t> et al. (2007) · Chu &amp; Sun (2008) · </a:t>
            </a:r>
            <a:r>
              <a:rPr sz="1100" b="0" i="1" dirty="0" err="1">
                <a:solidFill>
                  <a:srgbClr val="64748B"/>
                </a:solidFill>
                <a:latin typeface="Calibri"/>
              </a:rPr>
              <a:t>Gernay</a:t>
            </a:r>
            <a:r>
              <a:rPr sz="1100" b="0" i="1" dirty="0">
                <a:solidFill>
                  <a:srgbClr val="64748B"/>
                </a:solidFill>
                <a:latin typeface="Calibri"/>
              </a:rPr>
              <a:t> et al. (2016) · Zhang et al. (2017)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292082"/>
            <a:ext cx="5577840" cy="2551912"/>
          </a:xfrm>
          <a:prstGeom prst="roundRect">
            <a:avLst>
              <a:gd name="adj" fmla="val 3000"/>
            </a:avLst>
          </a:prstGeom>
          <a:solidFill>
            <a:srgbClr val="EAEFEF"/>
          </a:solidFill>
          <a:ln w="12700">
            <a:solidFill>
              <a:srgbClr val="9DB6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63640" y="1292082"/>
            <a:ext cx="5577840" cy="385200"/>
          </a:xfrm>
          <a:prstGeom prst="roundRect">
            <a:avLst>
              <a:gd name="adj" fmla="val 3000"/>
            </a:avLst>
          </a:prstGeom>
          <a:solidFill>
            <a:srgbClr val="2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59" y="1355756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400" dirty="0">
                <a:solidFill>
                  <a:srgbClr val="FFFFFF"/>
                </a:solidFill>
                <a:latin typeface="Calibri"/>
              </a:rPr>
              <a:t>URBAN 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1227407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1">
                <a:solidFill>
                  <a:srgbClr val="B4D2D8"/>
                </a:solidFill>
                <a:latin typeface="Calibri"/>
              </a:rPr>
              <a:t>Portfolio / community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827964"/>
            <a:ext cx="5120640" cy="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720840" y="1919404"/>
            <a:ext cx="164592" cy="164592"/>
          </a:xfrm>
          <a:prstGeom prst="ellipse">
            <a:avLst/>
          </a:prstGeom>
          <a:solidFill>
            <a:srgbClr val="2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95159" y="1884834"/>
            <a:ext cx="448055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Calibri"/>
              </a:rPr>
              <a:t>Resource allocation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2148004"/>
            <a:ext cx="44805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Buffington et al. (2021) · Wu et al. (2026) · Song et al. (2017) · Hossain (2023)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472364"/>
            <a:ext cx="5120640" cy="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720840" y="2568156"/>
            <a:ext cx="164592" cy="164592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95159" y="2533586"/>
            <a:ext cx="448055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Calibri"/>
              </a:rPr>
              <a:t>Fire-station location 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2796755"/>
            <a:ext cx="44805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Bispo et al. (2023) · Cui et al. (2024) · Lee et al. (2025)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116764"/>
            <a:ext cx="5120640" cy="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720840" y="3212557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95159" y="3177987"/>
            <a:ext cx="448055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Calibri"/>
              </a:rPr>
              <a:t>Insurance risk stratification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59" y="3441157"/>
            <a:ext cx="44805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De Sanctis &amp; Fisher (2015) · Du et al. (2025)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992415"/>
            <a:ext cx="11384280" cy="2499826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172483"/>
            <a:ext cx="10972800" cy="1439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dirty="0">
                <a:solidFill>
                  <a:srgbClr val="C2410C"/>
                </a:solidFill>
                <a:latin typeface="Calibri"/>
              </a:rPr>
              <a:t>Open question</a:t>
            </a:r>
            <a:r>
              <a:rPr lang="en-US" sz="1600" b="1" i="0" dirty="0">
                <a:solidFill>
                  <a:srgbClr val="C2410C"/>
                </a:solidFill>
                <a:latin typeface="Calibri"/>
              </a:rPr>
              <a:t>s</a:t>
            </a:r>
            <a:r>
              <a:rPr sz="1600" b="0" i="0" dirty="0">
                <a:solidFill>
                  <a:srgbClr val="C2410C"/>
                </a:solidFill>
                <a:latin typeface="Calibri"/>
              </a:rPr>
              <a:t> </a:t>
            </a:r>
            <a:r>
              <a:rPr lang="en-US" sz="1600" b="0" i="0" dirty="0">
                <a:solidFill>
                  <a:srgbClr val="C2410C"/>
                </a:solidFill>
                <a:latin typeface="Calibri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rgbClr val="1E293B"/>
                </a:solidFill>
                <a:latin typeface="Calibri"/>
              </a:rPr>
              <a:t>  -  </a:t>
            </a:r>
            <a:r>
              <a:rPr sz="1600" b="0" i="0" dirty="0">
                <a:solidFill>
                  <a:srgbClr val="1E293B"/>
                </a:solidFill>
                <a:latin typeface="Calibri"/>
              </a:rPr>
              <a:t>Which decisions matter most for community fire-ris</a:t>
            </a:r>
            <a:r>
              <a:rPr lang="en-US" sz="1600" dirty="0">
                <a:solidFill>
                  <a:srgbClr val="1E293B"/>
                </a:solidFill>
                <a:latin typeface="Calibri"/>
              </a:rPr>
              <a:t>k management</a:t>
            </a:r>
            <a:r>
              <a:rPr sz="1600" b="0" i="0" dirty="0">
                <a:solidFill>
                  <a:srgbClr val="1E293B"/>
                </a:solidFill>
                <a:latin typeface="Calibri"/>
              </a:rPr>
              <a:t>?</a:t>
            </a:r>
            <a:endParaRPr lang="en-US" sz="1600" b="0" i="0" dirty="0">
              <a:solidFill>
                <a:srgbClr val="1E293B"/>
              </a:solidFill>
              <a:latin typeface="Calibri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Calibri"/>
              </a:rPr>
              <a:t>  -  </a:t>
            </a:r>
            <a:r>
              <a:rPr lang="en-US" sz="1600" dirty="0"/>
              <a:t>Given an estimate of fatality risk in a building, what decisions does it support, and for whom?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</a:rPr>
              <a:t>  -  </a:t>
            </a:r>
            <a:r>
              <a:rPr lang="en-US" sz="1600" dirty="0"/>
              <a:t>In fire risk analysis/modeling, where does uncertainty matter most?</a:t>
            </a:r>
            <a:endParaRPr sz="16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2748987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726A4-0F35-6CC3-76C4-58BB666E4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300">
                <a:solidFill>
                  <a:srgbClr val="C2410C"/>
                </a:solidFill>
                <a:latin typeface="Calibri"/>
              </a:rPr>
              <a:t>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Calibr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14091"/>
            <a:ext cx="1127455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 dirty="0">
                <a:solidFill>
                  <a:srgbClr val="64748B"/>
                </a:solidFill>
                <a:latin typeface="Calibri"/>
              </a:rPr>
              <a:t>Critical factors identified </a:t>
            </a:r>
            <a:r>
              <a:rPr lang="en-US" sz="1200" b="0" i="1" dirty="0">
                <a:solidFill>
                  <a:srgbClr val="64748B"/>
                </a:solidFill>
                <a:latin typeface="Calibri"/>
              </a:rPr>
              <a:t>from </a:t>
            </a:r>
            <a:r>
              <a:rPr lang="en-US" sz="1200" i="1" dirty="0">
                <a:solidFill>
                  <a:srgbClr val="64748B"/>
                </a:solidFill>
                <a:latin typeface="Calibri"/>
              </a:rPr>
              <a:t>literature </a:t>
            </a:r>
            <a:r>
              <a:rPr sz="1200" b="0" i="1" dirty="0">
                <a:solidFill>
                  <a:srgbClr val="64748B"/>
                </a:solidFill>
                <a:latin typeface="Calibri"/>
              </a:rPr>
              <a:t>and additional sources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577840" cy="46634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 w="12700">
            <a:solidFill>
              <a:srgbClr val="B9C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 dirty="0">
                <a:solidFill>
                  <a:srgbClr val="1F3A68"/>
                </a:solidFill>
                <a:latin typeface="Calibri"/>
              </a:rPr>
              <a:t>FOR  THE 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51206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E293B"/>
                </a:solidFill>
                <a:latin typeface="Calibri"/>
              </a:rPr>
              <a:t>Identified critical factors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5120640" cy="1508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377440"/>
            <a:ext cx="91440" cy="1508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24077"/>
            <a:ext cx="475487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F3A68"/>
                </a:solidFill>
                <a:latin typeface="Calibri"/>
              </a:rPr>
              <a:t>Building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475487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0" dirty="0">
                <a:solidFill>
                  <a:srgbClr val="1E293B"/>
                </a:solidFill>
                <a:latin typeface="Calibri"/>
              </a:rPr>
              <a:t>Building volume  </a:t>
            </a:r>
          </a:p>
          <a:p>
            <a:pPr algn="l"/>
            <a:r>
              <a:rPr sz="1400" i="0" dirty="0">
                <a:solidFill>
                  <a:srgbClr val="1E293B"/>
                </a:solidFill>
                <a:latin typeface="Calibri"/>
              </a:rPr>
              <a:t>Building type  </a:t>
            </a:r>
          </a:p>
          <a:p>
            <a:pPr algn="l"/>
            <a:r>
              <a:rPr sz="1400" i="0" dirty="0">
                <a:solidFill>
                  <a:srgbClr val="1E293B"/>
                </a:solidFill>
                <a:latin typeface="Calibri"/>
              </a:rPr>
              <a:t>Building age / condition</a:t>
            </a:r>
            <a:r>
              <a:rPr lang="en-US" sz="1400" i="0" dirty="0">
                <a:solidFill>
                  <a:srgbClr val="1E293B"/>
                </a:solidFill>
                <a:latin typeface="Calibri"/>
              </a:rPr>
              <a:t> / degradation</a:t>
            </a:r>
            <a:endParaRPr sz="140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4069080"/>
            <a:ext cx="5120640" cy="1508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4069080"/>
            <a:ext cx="91440" cy="1508760"/>
          </a:xfrm>
          <a:prstGeom prst="rect">
            <a:avLst/>
          </a:prstGeom>
          <a:solidFill>
            <a:srgbClr val="2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215718"/>
            <a:ext cx="475487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2E7D8F"/>
                </a:solidFill>
                <a:latin typeface="Calibri"/>
              </a:rPr>
              <a:t>Occupant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475487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0" dirty="0">
                <a:solidFill>
                  <a:srgbClr val="1E293B"/>
                </a:solidFill>
                <a:latin typeface="Calibri"/>
              </a:rPr>
              <a:t>Number of occupants  </a:t>
            </a:r>
          </a:p>
          <a:p>
            <a:pPr algn="l"/>
            <a:r>
              <a:rPr sz="1400" i="0" dirty="0">
                <a:solidFill>
                  <a:srgbClr val="1E293B"/>
                </a:solidFill>
                <a:latin typeface="Calibri"/>
              </a:rPr>
              <a:t>Income status  </a:t>
            </a:r>
          </a:p>
          <a:p>
            <a:pPr algn="l"/>
            <a:r>
              <a:rPr sz="1400" i="0" dirty="0">
                <a:solidFill>
                  <a:srgbClr val="1E293B"/>
                </a:solidFill>
                <a:latin typeface="Calibri"/>
              </a:rPr>
              <a:t>Education level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5577840" cy="466344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12700">
            <a:solidFill>
              <a:srgbClr val="E8B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581912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spc="300" dirty="0">
                <a:solidFill>
                  <a:srgbClr val="C2410C"/>
                </a:solidFill>
                <a:latin typeface="Calibri"/>
              </a:rPr>
              <a:t>WANTED</a:t>
            </a:r>
            <a:endParaRPr sz="1200" b="1" i="0" spc="300" dirty="0">
              <a:solidFill>
                <a:srgbClr val="C2410C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1874519"/>
            <a:ext cx="51206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E293B"/>
                </a:solidFill>
                <a:latin typeface="Calibri"/>
              </a:rPr>
              <a:t>Wanted data</a:t>
            </a:r>
            <a:endParaRPr sz="1600" b="1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92240" y="2377440"/>
            <a:ext cx="5120640" cy="1508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92240" y="2377440"/>
            <a:ext cx="91440" cy="15087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2524077"/>
            <a:ext cx="475487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C2410C"/>
                </a:solidFill>
                <a:latin typeface="Calibri"/>
              </a:rPr>
              <a:t>Fire event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880360"/>
            <a:ext cx="475487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E293B"/>
                </a:solidFill>
                <a:latin typeface="Calibri"/>
              </a:rPr>
              <a:t>Building-level incident records</a:t>
            </a:r>
            <a:r>
              <a:rPr lang="en-US" sz="1400" b="0" i="0" dirty="0">
                <a:solidFill>
                  <a:srgbClr val="1E293B"/>
                </a:solidFill>
                <a:latin typeface="Calibri"/>
              </a:rPr>
              <a:t>.</a:t>
            </a:r>
            <a:endParaRPr sz="14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92240" y="4069080"/>
            <a:ext cx="5120640" cy="1508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92240" y="4069080"/>
            <a:ext cx="91440" cy="1508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4215717"/>
            <a:ext cx="475487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F3A68"/>
                </a:solidFill>
                <a:latin typeface="Calibri"/>
              </a:rPr>
              <a:t>Fire occurrence statistics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572000"/>
            <a:ext cx="475487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E293B"/>
                </a:solidFill>
                <a:latin typeface="Calibri"/>
              </a:rPr>
              <a:t>Census-tract / municipality fire-r</a:t>
            </a:r>
            <a:r>
              <a:rPr lang="en-US" sz="1400" b="0" i="0" dirty="0">
                <a:solidFill>
                  <a:srgbClr val="1E293B"/>
                </a:solidFill>
                <a:latin typeface="Calibri"/>
              </a:rPr>
              <a:t>elated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 data with socio-demographic predictors</a:t>
            </a:r>
            <a:r>
              <a:rPr lang="en-US" sz="1400" dirty="0">
                <a:solidFill>
                  <a:srgbClr val="1E293B"/>
                </a:solidFill>
                <a:latin typeface="Calibri"/>
              </a:rPr>
              <a:t>.</a:t>
            </a:r>
            <a:endParaRPr sz="14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3562621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D24856-373D-4E20-2E39-FF0CC05355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78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9EF67E-DA07-7DC2-3BB8-64588E0175D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1258931" y="201168"/>
            <a:ext cx="730606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341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1177</TotalTime>
  <Words>2242</Words>
  <Application>Microsoft Macintosh PowerPoint</Application>
  <PresentationFormat>Widescreen</PresentationFormat>
  <Paragraphs>411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 Narrow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Multi-Scale Building Fire Risk Modeling</dc:title>
  <dc:subject>PptxGenJS Presentation</dc:subject>
  <dc:creator>Chupei</dc:creator>
  <cp:lastModifiedBy>Chupei Lin</cp:lastModifiedBy>
  <cp:revision>19</cp:revision>
  <dcterms:created xsi:type="dcterms:W3CDTF">2026-06-02T06:21:25Z</dcterms:created>
  <dcterms:modified xsi:type="dcterms:W3CDTF">2026-06-22T13:46:26Z</dcterms:modified>
</cp:coreProperties>
</file>